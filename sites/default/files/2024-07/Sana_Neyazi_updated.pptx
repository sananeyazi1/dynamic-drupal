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145707303" r:id="rId2"/>
    <p:sldId id="2145707304"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D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5" d="100"/>
          <a:sy n="55" d="100"/>
        </p:scale>
        <p:origin x="1096"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5C8BF6-B53F-4715-88B1-C1AFA44F4ABE}" type="datetimeFigureOut">
              <a:rPr lang="en-US" smtClean="0"/>
              <a:t>6/4/2024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7A6C4B-D5A9-49F0-8DBD-588CE364B3EE}" type="slidenum">
              <a:rPr lang="en-US" smtClean="0"/>
              <a:t>‹#›</a:t>
            </a:fld>
            <a:endParaRPr lang="en-US"/>
          </a:p>
        </p:txBody>
      </p:sp>
    </p:spTree>
    <p:extLst>
      <p:ext uri="{BB962C8B-B14F-4D97-AF65-F5344CB8AC3E}">
        <p14:creationId xmlns:p14="http://schemas.microsoft.com/office/powerpoint/2010/main" val="633338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7A6C4B-D5A9-49F0-8DBD-588CE364B3EE}" type="slidenum">
              <a:rPr lang="en-US" smtClean="0"/>
              <a:t>1</a:t>
            </a:fld>
            <a:endParaRPr lang="en-US"/>
          </a:p>
        </p:txBody>
      </p:sp>
    </p:spTree>
    <p:extLst>
      <p:ext uri="{BB962C8B-B14F-4D97-AF65-F5344CB8AC3E}">
        <p14:creationId xmlns:p14="http://schemas.microsoft.com/office/powerpoint/2010/main" val="3376302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E3959-9A2C-4758-B38D-31FB21D378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537BC7-AAAB-4BEF-B1DF-3C9CBFF12B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9241B8-5492-4F2F-BD6C-6D611B64F412}"/>
              </a:ext>
            </a:extLst>
          </p:cNvPr>
          <p:cNvSpPr>
            <a:spLocks noGrp="1"/>
          </p:cNvSpPr>
          <p:nvPr>
            <p:ph type="dt" sz="half" idx="10"/>
          </p:nvPr>
        </p:nvSpPr>
        <p:spPr/>
        <p:txBody>
          <a:bodyPr/>
          <a:lstStyle/>
          <a:p>
            <a:fld id="{EF39E260-FA2B-49A4-A2BE-15A34EDB355D}" type="datetimeFigureOut">
              <a:rPr lang="en-US" smtClean="0"/>
              <a:t>6/4/2024</a:t>
            </a:fld>
            <a:endParaRPr lang="en-US"/>
          </a:p>
        </p:txBody>
      </p:sp>
      <p:sp>
        <p:nvSpPr>
          <p:cNvPr id="5" name="Footer Placeholder 4">
            <a:extLst>
              <a:ext uri="{FF2B5EF4-FFF2-40B4-BE49-F238E27FC236}">
                <a16:creationId xmlns:a16="http://schemas.microsoft.com/office/drawing/2014/main" id="{3CE7D861-6D14-4E0B-8B4C-C99371A6BB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E66E2B-3F35-4CBF-BEF9-0D486AA35DD9}"/>
              </a:ext>
            </a:extLst>
          </p:cNvPr>
          <p:cNvSpPr>
            <a:spLocks noGrp="1"/>
          </p:cNvSpPr>
          <p:nvPr>
            <p:ph type="sldNum" sz="quarter" idx="12"/>
          </p:nvPr>
        </p:nvSpPr>
        <p:spPr/>
        <p:txBody>
          <a:bodyPr/>
          <a:lstStyle/>
          <a:p>
            <a:fld id="{C9733E82-E753-4E7E-A42D-D59084C1B99B}" type="slidenum">
              <a:rPr lang="en-US" smtClean="0"/>
              <a:t>‹#›</a:t>
            </a:fld>
            <a:endParaRPr lang="en-US"/>
          </a:p>
        </p:txBody>
      </p:sp>
    </p:spTree>
    <p:extLst>
      <p:ext uri="{BB962C8B-B14F-4D97-AF65-F5344CB8AC3E}">
        <p14:creationId xmlns:p14="http://schemas.microsoft.com/office/powerpoint/2010/main" val="1177510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2D464-ABEF-4C1A-8C94-1D645A6ACD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32217D-8EBE-4254-BC3A-9EC1122CBD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28EC35-15AA-4799-AA7E-B7DA2573A9D0}"/>
              </a:ext>
            </a:extLst>
          </p:cNvPr>
          <p:cNvSpPr>
            <a:spLocks noGrp="1"/>
          </p:cNvSpPr>
          <p:nvPr>
            <p:ph type="dt" sz="half" idx="10"/>
          </p:nvPr>
        </p:nvSpPr>
        <p:spPr/>
        <p:txBody>
          <a:bodyPr/>
          <a:lstStyle/>
          <a:p>
            <a:fld id="{EF39E260-FA2B-49A4-A2BE-15A34EDB355D}" type="datetimeFigureOut">
              <a:rPr lang="en-US" smtClean="0"/>
              <a:t>6/4/2024</a:t>
            </a:fld>
            <a:endParaRPr lang="en-US"/>
          </a:p>
        </p:txBody>
      </p:sp>
      <p:sp>
        <p:nvSpPr>
          <p:cNvPr id="5" name="Footer Placeholder 4">
            <a:extLst>
              <a:ext uri="{FF2B5EF4-FFF2-40B4-BE49-F238E27FC236}">
                <a16:creationId xmlns:a16="http://schemas.microsoft.com/office/drawing/2014/main" id="{EBC24A0C-8648-452D-8C1E-93FE14037B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F2F3D7-EE88-4256-8C81-B7383DBF69FC}"/>
              </a:ext>
            </a:extLst>
          </p:cNvPr>
          <p:cNvSpPr>
            <a:spLocks noGrp="1"/>
          </p:cNvSpPr>
          <p:nvPr>
            <p:ph type="sldNum" sz="quarter" idx="12"/>
          </p:nvPr>
        </p:nvSpPr>
        <p:spPr/>
        <p:txBody>
          <a:bodyPr/>
          <a:lstStyle/>
          <a:p>
            <a:fld id="{C9733E82-E753-4E7E-A42D-D59084C1B99B}" type="slidenum">
              <a:rPr lang="en-US" smtClean="0"/>
              <a:t>‹#›</a:t>
            </a:fld>
            <a:endParaRPr lang="en-US"/>
          </a:p>
        </p:txBody>
      </p:sp>
    </p:spTree>
    <p:extLst>
      <p:ext uri="{BB962C8B-B14F-4D97-AF65-F5344CB8AC3E}">
        <p14:creationId xmlns:p14="http://schemas.microsoft.com/office/powerpoint/2010/main" val="1408111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C039B-0245-46A5-947D-8A33D8FE29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6DC495-A49A-4572-9AA8-E9B80BD10D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59FB28-89C6-44F8-B412-14988DBCAE33}"/>
              </a:ext>
            </a:extLst>
          </p:cNvPr>
          <p:cNvSpPr>
            <a:spLocks noGrp="1"/>
          </p:cNvSpPr>
          <p:nvPr>
            <p:ph type="dt" sz="half" idx="10"/>
          </p:nvPr>
        </p:nvSpPr>
        <p:spPr/>
        <p:txBody>
          <a:bodyPr/>
          <a:lstStyle/>
          <a:p>
            <a:fld id="{EF39E260-FA2B-49A4-A2BE-15A34EDB355D}" type="datetimeFigureOut">
              <a:rPr lang="en-US" smtClean="0"/>
              <a:t>6/4/2024</a:t>
            </a:fld>
            <a:endParaRPr lang="en-US"/>
          </a:p>
        </p:txBody>
      </p:sp>
      <p:sp>
        <p:nvSpPr>
          <p:cNvPr id="5" name="Footer Placeholder 4">
            <a:extLst>
              <a:ext uri="{FF2B5EF4-FFF2-40B4-BE49-F238E27FC236}">
                <a16:creationId xmlns:a16="http://schemas.microsoft.com/office/drawing/2014/main" id="{8F23F4F3-25DC-4236-96B4-F911D06DA8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F49D99-8ECD-43E7-9EF0-3F6CCC7C08FB}"/>
              </a:ext>
            </a:extLst>
          </p:cNvPr>
          <p:cNvSpPr>
            <a:spLocks noGrp="1"/>
          </p:cNvSpPr>
          <p:nvPr>
            <p:ph type="sldNum" sz="quarter" idx="12"/>
          </p:nvPr>
        </p:nvSpPr>
        <p:spPr/>
        <p:txBody>
          <a:bodyPr/>
          <a:lstStyle/>
          <a:p>
            <a:fld id="{C9733E82-E753-4E7E-A42D-D59084C1B99B}" type="slidenum">
              <a:rPr lang="en-US" smtClean="0"/>
              <a:t>‹#›</a:t>
            </a:fld>
            <a:endParaRPr lang="en-US"/>
          </a:p>
        </p:txBody>
      </p:sp>
    </p:spTree>
    <p:extLst>
      <p:ext uri="{BB962C8B-B14F-4D97-AF65-F5344CB8AC3E}">
        <p14:creationId xmlns:p14="http://schemas.microsoft.com/office/powerpoint/2010/main" val="2120891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F5F87-75E9-4777-BF97-F1E795BC25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6BB880-C1FF-4663-86CA-D8FF7BFC3E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92D8F9-16E9-4C04-B66B-EC1E3A92BA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6895BD-5B0C-425A-8B94-0A62DD57F922}"/>
              </a:ext>
            </a:extLst>
          </p:cNvPr>
          <p:cNvSpPr>
            <a:spLocks noGrp="1"/>
          </p:cNvSpPr>
          <p:nvPr>
            <p:ph type="dt" sz="half" idx="10"/>
          </p:nvPr>
        </p:nvSpPr>
        <p:spPr/>
        <p:txBody>
          <a:bodyPr/>
          <a:lstStyle/>
          <a:p>
            <a:fld id="{EF39E260-FA2B-49A4-A2BE-15A34EDB355D}" type="datetimeFigureOut">
              <a:rPr lang="en-US" smtClean="0"/>
              <a:t>6/4/2024</a:t>
            </a:fld>
            <a:endParaRPr lang="en-US"/>
          </a:p>
        </p:txBody>
      </p:sp>
      <p:sp>
        <p:nvSpPr>
          <p:cNvPr id="6" name="Footer Placeholder 5">
            <a:extLst>
              <a:ext uri="{FF2B5EF4-FFF2-40B4-BE49-F238E27FC236}">
                <a16:creationId xmlns:a16="http://schemas.microsoft.com/office/drawing/2014/main" id="{63155809-A975-4C2A-A32D-762C5AB6C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677800-11E3-4DBA-BCD9-1157D431447E}"/>
              </a:ext>
            </a:extLst>
          </p:cNvPr>
          <p:cNvSpPr>
            <a:spLocks noGrp="1"/>
          </p:cNvSpPr>
          <p:nvPr>
            <p:ph type="sldNum" sz="quarter" idx="12"/>
          </p:nvPr>
        </p:nvSpPr>
        <p:spPr/>
        <p:txBody>
          <a:bodyPr/>
          <a:lstStyle/>
          <a:p>
            <a:fld id="{C9733E82-E753-4E7E-A42D-D59084C1B99B}" type="slidenum">
              <a:rPr lang="en-US" smtClean="0"/>
              <a:t>‹#›</a:t>
            </a:fld>
            <a:endParaRPr lang="en-US"/>
          </a:p>
        </p:txBody>
      </p:sp>
    </p:spTree>
    <p:extLst>
      <p:ext uri="{BB962C8B-B14F-4D97-AF65-F5344CB8AC3E}">
        <p14:creationId xmlns:p14="http://schemas.microsoft.com/office/powerpoint/2010/main" val="3270714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9254F-45B6-496B-AC50-51AD04A21E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7A5A00-91D8-4EF2-A09B-0BF0816D7F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660278-FC8F-47F2-A0F0-F32F321683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0A083F-E2B1-4427-A9AC-36F118A954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7C4DED-8149-453E-805D-ADF1215F0D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112CF2-D012-42C0-B223-6CF820D3FE40}"/>
              </a:ext>
            </a:extLst>
          </p:cNvPr>
          <p:cNvSpPr>
            <a:spLocks noGrp="1"/>
          </p:cNvSpPr>
          <p:nvPr>
            <p:ph type="dt" sz="half" idx="10"/>
          </p:nvPr>
        </p:nvSpPr>
        <p:spPr/>
        <p:txBody>
          <a:bodyPr/>
          <a:lstStyle/>
          <a:p>
            <a:fld id="{EF39E260-FA2B-49A4-A2BE-15A34EDB355D}" type="datetimeFigureOut">
              <a:rPr lang="en-US" smtClean="0"/>
              <a:t>6/4/2024</a:t>
            </a:fld>
            <a:endParaRPr lang="en-US"/>
          </a:p>
        </p:txBody>
      </p:sp>
      <p:sp>
        <p:nvSpPr>
          <p:cNvPr id="8" name="Footer Placeholder 7">
            <a:extLst>
              <a:ext uri="{FF2B5EF4-FFF2-40B4-BE49-F238E27FC236}">
                <a16:creationId xmlns:a16="http://schemas.microsoft.com/office/drawing/2014/main" id="{B7F79848-5508-45CF-BF45-53AEDBB958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85CD84-EA81-4E94-9814-96E2DEE972E1}"/>
              </a:ext>
            </a:extLst>
          </p:cNvPr>
          <p:cNvSpPr>
            <a:spLocks noGrp="1"/>
          </p:cNvSpPr>
          <p:nvPr>
            <p:ph type="sldNum" sz="quarter" idx="12"/>
          </p:nvPr>
        </p:nvSpPr>
        <p:spPr/>
        <p:txBody>
          <a:bodyPr/>
          <a:lstStyle/>
          <a:p>
            <a:fld id="{C9733E82-E753-4E7E-A42D-D59084C1B99B}" type="slidenum">
              <a:rPr lang="en-US" smtClean="0"/>
              <a:t>‹#›</a:t>
            </a:fld>
            <a:endParaRPr lang="en-US"/>
          </a:p>
        </p:txBody>
      </p:sp>
    </p:spTree>
    <p:extLst>
      <p:ext uri="{BB962C8B-B14F-4D97-AF65-F5344CB8AC3E}">
        <p14:creationId xmlns:p14="http://schemas.microsoft.com/office/powerpoint/2010/main" val="3602796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311C9-008D-4200-A662-4F54115ACC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D34013-E2F6-46C8-BE34-A24BBBD2F27F}"/>
              </a:ext>
            </a:extLst>
          </p:cNvPr>
          <p:cNvSpPr>
            <a:spLocks noGrp="1"/>
          </p:cNvSpPr>
          <p:nvPr>
            <p:ph type="dt" sz="half" idx="10"/>
          </p:nvPr>
        </p:nvSpPr>
        <p:spPr/>
        <p:txBody>
          <a:bodyPr/>
          <a:lstStyle/>
          <a:p>
            <a:fld id="{EF39E260-FA2B-49A4-A2BE-15A34EDB355D}" type="datetimeFigureOut">
              <a:rPr lang="en-US" smtClean="0"/>
              <a:t>6/4/2024</a:t>
            </a:fld>
            <a:endParaRPr lang="en-US"/>
          </a:p>
        </p:txBody>
      </p:sp>
      <p:sp>
        <p:nvSpPr>
          <p:cNvPr id="4" name="Footer Placeholder 3">
            <a:extLst>
              <a:ext uri="{FF2B5EF4-FFF2-40B4-BE49-F238E27FC236}">
                <a16:creationId xmlns:a16="http://schemas.microsoft.com/office/drawing/2014/main" id="{0731A7DC-2C13-4A5D-AF1D-3173E13208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D809B1-A0FD-4C9D-BF62-EEFA42081E87}"/>
              </a:ext>
            </a:extLst>
          </p:cNvPr>
          <p:cNvSpPr>
            <a:spLocks noGrp="1"/>
          </p:cNvSpPr>
          <p:nvPr>
            <p:ph type="sldNum" sz="quarter" idx="12"/>
          </p:nvPr>
        </p:nvSpPr>
        <p:spPr/>
        <p:txBody>
          <a:bodyPr/>
          <a:lstStyle/>
          <a:p>
            <a:fld id="{C9733E82-E753-4E7E-A42D-D59084C1B99B}" type="slidenum">
              <a:rPr lang="en-US" smtClean="0"/>
              <a:t>‹#›</a:t>
            </a:fld>
            <a:endParaRPr lang="en-US"/>
          </a:p>
        </p:txBody>
      </p:sp>
    </p:spTree>
    <p:extLst>
      <p:ext uri="{BB962C8B-B14F-4D97-AF65-F5344CB8AC3E}">
        <p14:creationId xmlns:p14="http://schemas.microsoft.com/office/powerpoint/2010/main" val="1667441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E4ED20-E7F8-4A2C-9AF3-5B598B6D5C9C}"/>
              </a:ext>
            </a:extLst>
          </p:cNvPr>
          <p:cNvSpPr>
            <a:spLocks noGrp="1"/>
          </p:cNvSpPr>
          <p:nvPr>
            <p:ph type="dt" sz="half" idx="10"/>
          </p:nvPr>
        </p:nvSpPr>
        <p:spPr/>
        <p:txBody>
          <a:bodyPr/>
          <a:lstStyle/>
          <a:p>
            <a:fld id="{EF39E260-FA2B-49A4-A2BE-15A34EDB355D}" type="datetimeFigureOut">
              <a:rPr lang="en-US" smtClean="0"/>
              <a:t>6/4/2024</a:t>
            </a:fld>
            <a:endParaRPr lang="en-US"/>
          </a:p>
        </p:txBody>
      </p:sp>
      <p:sp>
        <p:nvSpPr>
          <p:cNvPr id="3" name="Footer Placeholder 2">
            <a:extLst>
              <a:ext uri="{FF2B5EF4-FFF2-40B4-BE49-F238E27FC236}">
                <a16:creationId xmlns:a16="http://schemas.microsoft.com/office/drawing/2014/main" id="{19889AE8-920B-424A-B2D0-1F3A0FEAD21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F7D169-D36F-47FD-9022-9F1EB4FB3E6B}"/>
              </a:ext>
            </a:extLst>
          </p:cNvPr>
          <p:cNvSpPr>
            <a:spLocks noGrp="1"/>
          </p:cNvSpPr>
          <p:nvPr>
            <p:ph type="sldNum" sz="quarter" idx="12"/>
          </p:nvPr>
        </p:nvSpPr>
        <p:spPr/>
        <p:txBody>
          <a:bodyPr/>
          <a:lstStyle/>
          <a:p>
            <a:fld id="{C9733E82-E753-4E7E-A42D-D59084C1B99B}" type="slidenum">
              <a:rPr lang="en-US" smtClean="0"/>
              <a:t>‹#›</a:t>
            </a:fld>
            <a:endParaRPr lang="en-US"/>
          </a:p>
        </p:txBody>
      </p:sp>
    </p:spTree>
    <p:extLst>
      <p:ext uri="{BB962C8B-B14F-4D97-AF65-F5344CB8AC3E}">
        <p14:creationId xmlns:p14="http://schemas.microsoft.com/office/powerpoint/2010/main" val="4075983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27378-3DA4-4E73-9BBA-43C1E10860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CBC68E-EA7C-4692-81DC-EA06679D5D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757075-A668-4D1B-AB2C-9A51E666B9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30DC05-7C4A-41C5-B316-3156BFF7B901}"/>
              </a:ext>
            </a:extLst>
          </p:cNvPr>
          <p:cNvSpPr>
            <a:spLocks noGrp="1"/>
          </p:cNvSpPr>
          <p:nvPr>
            <p:ph type="dt" sz="half" idx="10"/>
          </p:nvPr>
        </p:nvSpPr>
        <p:spPr/>
        <p:txBody>
          <a:bodyPr/>
          <a:lstStyle/>
          <a:p>
            <a:fld id="{EF39E260-FA2B-49A4-A2BE-15A34EDB355D}" type="datetimeFigureOut">
              <a:rPr lang="en-US" smtClean="0"/>
              <a:t>6/4/2024</a:t>
            </a:fld>
            <a:endParaRPr lang="en-US"/>
          </a:p>
        </p:txBody>
      </p:sp>
      <p:sp>
        <p:nvSpPr>
          <p:cNvPr id="6" name="Footer Placeholder 5">
            <a:extLst>
              <a:ext uri="{FF2B5EF4-FFF2-40B4-BE49-F238E27FC236}">
                <a16:creationId xmlns:a16="http://schemas.microsoft.com/office/drawing/2014/main" id="{52DFC5CF-CE57-4FBE-A708-26FD74F3C1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9BC29B-F7D6-4E2C-9115-241BB02AAE5D}"/>
              </a:ext>
            </a:extLst>
          </p:cNvPr>
          <p:cNvSpPr>
            <a:spLocks noGrp="1"/>
          </p:cNvSpPr>
          <p:nvPr>
            <p:ph type="sldNum" sz="quarter" idx="12"/>
          </p:nvPr>
        </p:nvSpPr>
        <p:spPr/>
        <p:txBody>
          <a:bodyPr/>
          <a:lstStyle/>
          <a:p>
            <a:fld id="{C9733E82-E753-4E7E-A42D-D59084C1B99B}" type="slidenum">
              <a:rPr lang="en-US" smtClean="0"/>
              <a:t>‹#›</a:t>
            </a:fld>
            <a:endParaRPr lang="en-US"/>
          </a:p>
        </p:txBody>
      </p:sp>
    </p:spTree>
    <p:extLst>
      <p:ext uri="{BB962C8B-B14F-4D97-AF65-F5344CB8AC3E}">
        <p14:creationId xmlns:p14="http://schemas.microsoft.com/office/powerpoint/2010/main" val="3303314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7EEC7-BDEE-4822-A667-4E72F4D823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CFF01F-78D8-415F-876D-841C1FB9A4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D5D471-E39D-45FA-9F62-B2F31111A2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218830-66A8-4399-AE7A-AD90FFB2D87B}"/>
              </a:ext>
            </a:extLst>
          </p:cNvPr>
          <p:cNvSpPr>
            <a:spLocks noGrp="1"/>
          </p:cNvSpPr>
          <p:nvPr>
            <p:ph type="dt" sz="half" idx="10"/>
          </p:nvPr>
        </p:nvSpPr>
        <p:spPr/>
        <p:txBody>
          <a:bodyPr/>
          <a:lstStyle/>
          <a:p>
            <a:fld id="{EF39E260-FA2B-49A4-A2BE-15A34EDB355D}" type="datetimeFigureOut">
              <a:rPr lang="en-US" smtClean="0"/>
              <a:t>6/4/2024</a:t>
            </a:fld>
            <a:endParaRPr lang="en-US"/>
          </a:p>
        </p:txBody>
      </p:sp>
      <p:sp>
        <p:nvSpPr>
          <p:cNvPr id="6" name="Footer Placeholder 5">
            <a:extLst>
              <a:ext uri="{FF2B5EF4-FFF2-40B4-BE49-F238E27FC236}">
                <a16:creationId xmlns:a16="http://schemas.microsoft.com/office/drawing/2014/main" id="{C30144EF-9A59-446C-8619-E19A3A94A2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F3C0F6-12C4-4B21-8294-6F7B6C4A523E}"/>
              </a:ext>
            </a:extLst>
          </p:cNvPr>
          <p:cNvSpPr>
            <a:spLocks noGrp="1"/>
          </p:cNvSpPr>
          <p:nvPr>
            <p:ph type="sldNum" sz="quarter" idx="12"/>
          </p:nvPr>
        </p:nvSpPr>
        <p:spPr/>
        <p:txBody>
          <a:bodyPr/>
          <a:lstStyle/>
          <a:p>
            <a:fld id="{C9733E82-E753-4E7E-A42D-D59084C1B99B}" type="slidenum">
              <a:rPr lang="en-US" smtClean="0"/>
              <a:t>‹#›</a:t>
            </a:fld>
            <a:endParaRPr lang="en-US"/>
          </a:p>
        </p:txBody>
      </p:sp>
    </p:spTree>
    <p:extLst>
      <p:ext uri="{BB962C8B-B14F-4D97-AF65-F5344CB8AC3E}">
        <p14:creationId xmlns:p14="http://schemas.microsoft.com/office/powerpoint/2010/main" val="2280993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62D70-D2D0-4F2A-84CE-9764BD7EC87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0516A2-00C0-4EDA-8538-DFF910D950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C75D53-A8F9-4C59-9B89-702252B22991}"/>
              </a:ext>
            </a:extLst>
          </p:cNvPr>
          <p:cNvSpPr>
            <a:spLocks noGrp="1"/>
          </p:cNvSpPr>
          <p:nvPr>
            <p:ph type="dt" sz="half" idx="10"/>
          </p:nvPr>
        </p:nvSpPr>
        <p:spPr/>
        <p:txBody>
          <a:bodyPr/>
          <a:lstStyle/>
          <a:p>
            <a:fld id="{EF39E260-FA2B-49A4-A2BE-15A34EDB355D}" type="datetimeFigureOut">
              <a:rPr lang="en-US" smtClean="0"/>
              <a:t>6/4/2024</a:t>
            </a:fld>
            <a:endParaRPr lang="en-US"/>
          </a:p>
        </p:txBody>
      </p:sp>
      <p:sp>
        <p:nvSpPr>
          <p:cNvPr id="5" name="Footer Placeholder 4">
            <a:extLst>
              <a:ext uri="{FF2B5EF4-FFF2-40B4-BE49-F238E27FC236}">
                <a16:creationId xmlns:a16="http://schemas.microsoft.com/office/drawing/2014/main" id="{10D84CCE-CDFF-451C-864E-DB7B60F354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3C35EF-F135-404C-8A9E-3E7147D0DF40}"/>
              </a:ext>
            </a:extLst>
          </p:cNvPr>
          <p:cNvSpPr>
            <a:spLocks noGrp="1"/>
          </p:cNvSpPr>
          <p:nvPr>
            <p:ph type="sldNum" sz="quarter" idx="12"/>
          </p:nvPr>
        </p:nvSpPr>
        <p:spPr/>
        <p:txBody>
          <a:bodyPr/>
          <a:lstStyle/>
          <a:p>
            <a:fld id="{C9733E82-E753-4E7E-A42D-D59084C1B99B}" type="slidenum">
              <a:rPr lang="en-US" smtClean="0"/>
              <a:t>‹#›</a:t>
            </a:fld>
            <a:endParaRPr lang="en-US"/>
          </a:p>
        </p:txBody>
      </p:sp>
    </p:spTree>
    <p:extLst>
      <p:ext uri="{BB962C8B-B14F-4D97-AF65-F5344CB8AC3E}">
        <p14:creationId xmlns:p14="http://schemas.microsoft.com/office/powerpoint/2010/main" val="76617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070218-5B1A-4059-B70C-6E93AD40B0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13F0E0-E439-40C0-9D15-C34591E19D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F67E3D-EFC6-4D49-867D-FC055C7BD43E}"/>
              </a:ext>
            </a:extLst>
          </p:cNvPr>
          <p:cNvSpPr>
            <a:spLocks noGrp="1"/>
          </p:cNvSpPr>
          <p:nvPr>
            <p:ph type="dt" sz="half" idx="10"/>
          </p:nvPr>
        </p:nvSpPr>
        <p:spPr/>
        <p:txBody>
          <a:bodyPr/>
          <a:lstStyle/>
          <a:p>
            <a:fld id="{EF39E260-FA2B-49A4-A2BE-15A34EDB355D}" type="datetimeFigureOut">
              <a:rPr lang="en-US" smtClean="0"/>
              <a:t>6/4/2024</a:t>
            </a:fld>
            <a:endParaRPr lang="en-US"/>
          </a:p>
        </p:txBody>
      </p:sp>
      <p:sp>
        <p:nvSpPr>
          <p:cNvPr id="5" name="Footer Placeholder 4">
            <a:extLst>
              <a:ext uri="{FF2B5EF4-FFF2-40B4-BE49-F238E27FC236}">
                <a16:creationId xmlns:a16="http://schemas.microsoft.com/office/drawing/2014/main" id="{B88F63A5-B636-4B29-9C88-49A9696E3F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615708-BBE5-4FB0-A1E4-D2484167FDED}"/>
              </a:ext>
            </a:extLst>
          </p:cNvPr>
          <p:cNvSpPr>
            <a:spLocks noGrp="1"/>
          </p:cNvSpPr>
          <p:nvPr>
            <p:ph type="sldNum" sz="quarter" idx="12"/>
          </p:nvPr>
        </p:nvSpPr>
        <p:spPr/>
        <p:txBody>
          <a:bodyPr/>
          <a:lstStyle/>
          <a:p>
            <a:fld id="{C9733E82-E753-4E7E-A42D-D59084C1B99B}" type="slidenum">
              <a:rPr lang="en-US" smtClean="0"/>
              <a:t>‹#›</a:t>
            </a:fld>
            <a:endParaRPr lang="en-US"/>
          </a:p>
        </p:txBody>
      </p:sp>
    </p:spTree>
    <p:extLst>
      <p:ext uri="{BB962C8B-B14F-4D97-AF65-F5344CB8AC3E}">
        <p14:creationId xmlns:p14="http://schemas.microsoft.com/office/powerpoint/2010/main" val="3093703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3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265783" y="158496"/>
            <a:ext cx="11630733" cy="603981"/>
          </a:xfrm>
          <a:prstGeom prst="rect">
            <a:avLst/>
          </a:prstGeom>
        </p:spPr>
        <p:txBody>
          <a:bodyPr anchor="t">
            <a:noAutofit/>
          </a:bodyPr>
          <a:lstStyle>
            <a:lvl1pPr marL="0" marR="0" indent="0" algn="l" defTabSz="609585" rtl="0" latinLnBrk="0">
              <a:lnSpc>
                <a:spcPct val="100000"/>
              </a:lnSpc>
              <a:spcBef>
                <a:spcPts val="0"/>
              </a:spcBef>
              <a:spcAft>
                <a:spcPts val="0"/>
              </a:spcAft>
              <a:buClrTx/>
              <a:buSzTx/>
              <a:buFontTx/>
              <a:buNone/>
              <a:tabLst/>
              <a:defRPr lang="en-US" sz="2400" b="0" i="0" u="none" strike="noStrike" cap="none" spc="0" baseline="0" dirty="0">
                <a:ln>
                  <a:noFill/>
                </a:ln>
                <a:solidFill>
                  <a:schemeClr val="tx1"/>
                </a:solidFill>
                <a:uFillTx/>
                <a:latin typeface="Arial"/>
                <a:ea typeface="Arial"/>
                <a:cs typeface="Arial"/>
                <a:sym typeface="Arial"/>
              </a:defRPr>
            </a:lvl1pPr>
          </a:lstStyle>
          <a:p>
            <a:r>
              <a:rPr lang="en-US"/>
              <a:t>Title text</a:t>
            </a:r>
          </a:p>
        </p:txBody>
      </p:sp>
      <p:sp>
        <p:nvSpPr>
          <p:cNvPr id="20" name="object 20"/>
          <p:cNvSpPr/>
          <p:nvPr userDrawn="1"/>
        </p:nvSpPr>
        <p:spPr>
          <a:xfrm>
            <a:off x="12064943"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DC3"/>
          </a:solidFill>
        </p:spPr>
        <p:txBody>
          <a:bodyPr wrap="square" lIns="0" tIns="0" rIns="0" bIns="0" rtlCol="0"/>
          <a:lstStyle/>
          <a:p>
            <a:pPr lvl="0"/>
            <a:endParaRPr sz="2400" dirty="0"/>
          </a:p>
        </p:txBody>
      </p:sp>
      <p:sp>
        <p:nvSpPr>
          <p:cNvPr id="21" name="object 9"/>
          <p:cNvSpPr/>
          <p:nvPr userDrawn="1"/>
        </p:nvSpPr>
        <p:spPr>
          <a:xfrm>
            <a:off x="-11893" y="2832016"/>
            <a:ext cx="138935" cy="1153909"/>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DC3"/>
          </a:solidFill>
        </p:spPr>
        <p:txBody>
          <a:bodyPr wrap="square" lIns="0" tIns="0" rIns="0" bIns="0" rtlCol="0"/>
          <a:lstStyle/>
          <a:p>
            <a:pPr lvl="0"/>
            <a:endParaRPr sz="2400" dirty="0"/>
          </a:p>
        </p:txBody>
      </p:sp>
      <p:sp>
        <p:nvSpPr>
          <p:cNvPr id="18" name="Shape 42"/>
          <p:cNvSpPr>
            <a:spLocks noGrp="1"/>
          </p:cNvSpPr>
          <p:nvPr>
            <p:ph type="sldNum" sz="quarter" idx="2"/>
          </p:nvPr>
        </p:nvSpPr>
        <p:spPr>
          <a:xfrm>
            <a:off x="5783810" y="6451014"/>
            <a:ext cx="624383" cy="372535"/>
          </a:xfrm>
          <a:prstGeom prst="rect">
            <a:avLst/>
          </a:prstGeom>
        </p:spPr>
        <p:txBody>
          <a:bodyPr/>
          <a:lstStyle>
            <a:lvl1pPr algn="ctr">
              <a:defRPr sz="1333">
                <a:solidFill>
                  <a:sysClr val="windowText" lastClr="000000"/>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pic>
        <p:nvPicPr>
          <p:cNvPr id="22" name="Picture 21"/>
          <p:cNvPicPr>
            <a:picLocks noChangeAspect="1"/>
          </p:cNvPicPr>
          <p:nvPr userDrawn="1"/>
        </p:nvPicPr>
        <p:blipFill>
          <a:blip r:embed="rId2"/>
          <a:stretch>
            <a:fillRect/>
          </a:stretch>
        </p:blipFill>
        <p:spPr>
          <a:xfrm>
            <a:off x="11082931" y="6325440"/>
            <a:ext cx="868532" cy="444227"/>
          </a:xfrm>
          <a:prstGeom prst="rect">
            <a:avLst/>
          </a:prstGeom>
        </p:spPr>
      </p:pic>
    </p:spTree>
    <p:extLst>
      <p:ext uri="{BB962C8B-B14F-4D97-AF65-F5344CB8AC3E}">
        <p14:creationId xmlns:p14="http://schemas.microsoft.com/office/powerpoint/2010/main" val="201037023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96A1A3-CDE4-4C2C-B784-1BBEC9D8A1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5D1930-A078-4435-9A03-39BC41DC85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7D1CB4-7549-4870-B2C9-2834F1D8DC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39E260-FA2B-49A4-A2BE-15A34EDB355D}" type="datetimeFigureOut">
              <a:rPr lang="en-US" smtClean="0"/>
              <a:t>6/4/2024</a:t>
            </a:fld>
            <a:endParaRPr lang="en-US"/>
          </a:p>
        </p:txBody>
      </p:sp>
      <p:sp>
        <p:nvSpPr>
          <p:cNvPr id="5" name="Footer Placeholder 4">
            <a:extLst>
              <a:ext uri="{FF2B5EF4-FFF2-40B4-BE49-F238E27FC236}">
                <a16:creationId xmlns:a16="http://schemas.microsoft.com/office/drawing/2014/main" id="{3DEAE260-5775-4AA2-AEF7-F6C9137F33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B6D6879-45B3-4DD9-AB7C-AE26AA8B8D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733E82-E753-4E7E-A42D-D59084C1B99B}" type="slidenum">
              <a:rPr lang="en-US" smtClean="0"/>
              <a:t>‹#›</a:t>
            </a:fld>
            <a:endParaRPr lang="en-US"/>
          </a:p>
        </p:txBody>
      </p:sp>
    </p:spTree>
    <p:extLst>
      <p:ext uri="{BB962C8B-B14F-4D97-AF65-F5344CB8AC3E}">
        <p14:creationId xmlns:p14="http://schemas.microsoft.com/office/powerpoint/2010/main" val="756820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B4C2AC-30CF-48D0-8091-3E05B12EE100}"/>
              </a:ext>
            </a:extLst>
          </p:cNvPr>
          <p:cNvSpPr>
            <a:spLocks noGrp="1"/>
          </p:cNvSpPr>
          <p:nvPr>
            <p:ph type="title"/>
          </p:nvPr>
        </p:nvSpPr>
        <p:spPr>
          <a:xfrm>
            <a:off x="265783" y="80395"/>
            <a:ext cx="11630733" cy="428218"/>
          </a:xfrm>
        </p:spPr>
        <p:txBody>
          <a:bodyPr/>
          <a:lstStyle/>
          <a:p>
            <a:r>
              <a:rPr lang="en-US" dirty="0">
                <a:solidFill>
                  <a:srgbClr val="000000"/>
                </a:solidFill>
              </a:rPr>
              <a:t>Sana Kauser Neyazi – Drupal Developer</a:t>
            </a:r>
            <a:endParaRPr lang="en-US" dirty="0"/>
          </a:p>
        </p:txBody>
      </p:sp>
      <p:sp>
        <p:nvSpPr>
          <p:cNvPr id="8" name="Rectangle 5">
            <a:extLst>
              <a:ext uri="{FF2B5EF4-FFF2-40B4-BE49-F238E27FC236}">
                <a16:creationId xmlns:a16="http://schemas.microsoft.com/office/drawing/2014/main" id="{C2928F06-3C64-4CCE-BB75-37089723E0C6}"/>
              </a:ext>
            </a:extLst>
          </p:cNvPr>
          <p:cNvSpPr>
            <a:spLocks noChangeArrowheads="1"/>
          </p:cNvSpPr>
          <p:nvPr/>
        </p:nvSpPr>
        <p:spPr bwMode="auto">
          <a:xfrm>
            <a:off x="241825" y="1844917"/>
            <a:ext cx="4234167" cy="277417"/>
          </a:xfrm>
          <a:prstGeom prst="rect">
            <a:avLst/>
          </a:prstGeom>
          <a:solidFill>
            <a:srgbClr val="003399"/>
          </a:solidFill>
          <a:ln w="3175" algn="ctr">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581" rIns="0" bIns="36581"/>
          <a:lstStyle/>
          <a:p>
            <a:pPr marL="198408" indent="-198408" algn="ctr" eaLnBrk="0" hangingPunct="0"/>
            <a:r>
              <a:rPr lang="en-US" sz="1467" b="1" dirty="0">
                <a:solidFill>
                  <a:srgbClr val="FFFFFF"/>
                </a:solidFill>
              </a:rPr>
              <a:t>Profile Summary</a:t>
            </a:r>
          </a:p>
        </p:txBody>
      </p:sp>
      <p:sp>
        <p:nvSpPr>
          <p:cNvPr id="9" name="Rectangle 6">
            <a:extLst>
              <a:ext uri="{FF2B5EF4-FFF2-40B4-BE49-F238E27FC236}">
                <a16:creationId xmlns:a16="http://schemas.microsoft.com/office/drawing/2014/main" id="{C4891B40-B0A2-463B-B32C-504F08E3C2AD}"/>
              </a:ext>
            </a:extLst>
          </p:cNvPr>
          <p:cNvSpPr>
            <a:spLocks noChangeArrowheads="1"/>
          </p:cNvSpPr>
          <p:nvPr/>
        </p:nvSpPr>
        <p:spPr bwMode="auto">
          <a:xfrm>
            <a:off x="278295" y="2205256"/>
            <a:ext cx="4247843" cy="4572349"/>
          </a:xfrm>
          <a:prstGeom prst="rect">
            <a:avLst/>
          </a:prstGeom>
          <a:noFill/>
          <a:ln>
            <a:noFill/>
          </a:ln>
          <a:effectLst/>
          <a:extLst>
            <a:ext uri="{909E8E84-426E-40DD-AFC4-6F175D3DCCD1}">
              <a14:hiddenFill xmlns:a14="http://schemas.microsoft.com/office/drawing/2010/main">
                <a:solidFill>
                  <a:srgbClr val="83C2E5"/>
                </a:solidFill>
              </a14:hiddenFill>
            </a:ext>
            <a:ext uri="{91240B29-F687-4F45-9708-019B960494DF}">
              <a14:hiddenLine xmlns:a14="http://schemas.microsoft.com/office/drawing/2010/main" w="317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581" tIns="36581" rIns="36581" bIns="36581"/>
          <a:lstStyle/>
          <a:p>
            <a:pPr marL="171450" indent="-171450">
              <a:buFont typeface="Arial" panose="020B0604020202020204" pitchFamily="34" charset="0"/>
              <a:buChar char="•"/>
            </a:pPr>
            <a:r>
              <a:rPr lang="en-US" sz="1400" dirty="0">
                <a:latin typeface="+mj-lt"/>
              </a:rPr>
              <a:t>Software Developer having around  7+ years of experience in web development .</a:t>
            </a:r>
          </a:p>
          <a:p>
            <a:pPr marL="171450" indent="-171450">
              <a:buFont typeface="Arial" panose="020B0604020202020204" pitchFamily="34" charset="0"/>
              <a:buChar char="•"/>
            </a:pPr>
            <a:r>
              <a:rPr lang="en-US" sz="1400" dirty="0">
                <a:solidFill>
                  <a:srgbClr val="000000"/>
                </a:solidFill>
                <a:latin typeface="+mj-lt"/>
                <a:cs typeface="Arial"/>
              </a:rPr>
              <a:t>6+ years of </a:t>
            </a:r>
            <a:r>
              <a:rPr lang="en-US" sz="1400" dirty="0">
                <a:solidFill>
                  <a:srgbClr val="000000"/>
                </a:solidFill>
                <a:latin typeface="+mj-lt"/>
                <a:cs typeface="Arial" charset="0"/>
              </a:rPr>
              <a:t>experience in Drupal (</a:t>
            </a:r>
            <a:r>
              <a:rPr lang="en-US" sz="1400" b="1" dirty="0">
                <a:solidFill>
                  <a:srgbClr val="000000"/>
                </a:solidFill>
                <a:latin typeface="+mj-lt"/>
                <a:cs typeface="Arial" charset="0"/>
              </a:rPr>
              <a:t>8,9,10</a:t>
            </a:r>
            <a:r>
              <a:rPr lang="en-US" sz="1400" dirty="0">
                <a:solidFill>
                  <a:srgbClr val="000000"/>
                </a:solidFill>
                <a:latin typeface="+mj-lt"/>
                <a:cs typeface="Arial" charset="0"/>
              </a:rPr>
              <a:t>). </a:t>
            </a:r>
          </a:p>
          <a:p>
            <a:pPr marL="171450" indent="-171450">
              <a:buFont typeface="Arial" panose="020B0604020202020204" pitchFamily="34" charset="0"/>
              <a:buChar char="•"/>
            </a:pPr>
            <a:r>
              <a:rPr lang="en-US" sz="1400" dirty="0">
                <a:latin typeface="+mj-lt"/>
              </a:rPr>
              <a:t>Expertise in developing custom modules, theme  and  RESTful Web Services in Drupal</a:t>
            </a:r>
          </a:p>
          <a:p>
            <a:pPr marL="171450" indent="-171450">
              <a:buFont typeface="Arial" panose="020B0604020202020204" pitchFamily="34" charset="0"/>
              <a:buChar char="•"/>
            </a:pPr>
            <a:r>
              <a:rPr lang="en-US" sz="1400" dirty="0">
                <a:latin typeface="+mj-lt"/>
              </a:rPr>
              <a:t>Worked decoupled and multi domain projects.</a:t>
            </a:r>
          </a:p>
          <a:p>
            <a:pPr marL="171450" indent="-171450">
              <a:buFont typeface="Arial" panose="020B0604020202020204" pitchFamily="34" charset="0"/>
              <a:buChar char="•"/>
            </a:pPr>
            <a:r>
              <a:rPr lang="en-US" sz="1400" dirty="0">
                <a:latin typeface="+mj-lt"/>
              </a:rPr>
              <a:t>Worked on rest API to interact with third party servers.</a:t>
            </a:r>
          </a:p>
          <a:p>
            <a:pPr marL="171450" indent="-171450">
              <a:buFont typeface="Arial" panose="020B0604020202020204" pitchFamily="34" charset="0"/>
              <a:buChar char="•"/>
            </a:pPr>
            <a:r>
              <a:rPr lang="en-US" sz="1400" dirty="0">
                <a:latin typeface="+mj-lt"/>
              </a:rPr>
              <a:t>Worked on automated test/Functional Unit Test</a:t>
            </a:r>
          </a:p>
          <a:p>
            <a:pPr marL="171450" indent="-171450">
              <a:buFont typeface="Arial" panose="020B0604020202020204" pitchFamily="34" charset="0"/>
              <a:buChar char="•"/>
            </a:pPr>
            <a:r>
              <a:rPr lang="en-US" sz="1400" dirty="0">
                <a:latin typeface="+mj-lt"/>
              </a:rPr>
              <a:t>Worked on  Drupal major update (from Drpal9 to 10 update)</a:t>
            </a:r>
          </a:p>
          <a:p>
            <a:pPr marL="171450" indent="-171450">
              <a:buFont typeface="Arial" panose="020B0604020202020204" pitchFamily="34" charset="0"/>
              <a:buChar char="•"/>
            </a:pPr>
            <a:r>
              <a:rPr lang="en-US" sz="1400" dirty="0">
                <a:latin typeface="+mj-lt"/>
              </a:rPr>
              <a:t>Developed, Deployed and Maintained several Drupal applications for clients. ​</a:t>
            </a:r>
          </a:p>
          <a:p>
            <a:endParaRPr lang="en-US" sz="1600" b="1" dirty="0">
              <a:solidFill>
                <a:srgbClr val="0070C0"/>
              </a:solidFill>
              <a:cs typeface="Times New Roman" pitchFamily="18" charset="0"/>
            </a:endParaRPr>
          </a:p>
          <a:p>
            <a:r>
              <a:rPr lang="en-US" sz="1600" b="1" dirty="0">
                <a:solidFill>
                  <a:srgbClr val="0070C0"/>
                </a:solidFill>
                <a:cs typeface="Times New Roman" pitchFamily="18" charset="0"/>
              </a:rPr>
              <a:t>Tools/Technologies: </a:t>
            </a:r>
          </a:p>
          <a:p>
            <a:pPr marL="285750" indent="-285750">
              <a:buFont typeface="Arial" panose="020B0604020202020204" pitchFamily="34" charset="0"/>
              <a:buChar char="•"/>
            </a:pPr>
            <a:r>
              <a:rPr lang="en-US" altLang="ja-JP" sz="1400" kern="0" dirty="0">
                <a:solidFill>
                  <a:srgbClr val="000000"/>
                </a:solidFill>
                <a:latin typeface="+mj-lt"/>
              </a:rPr>
              <a:t>Drupal  8, 9 and 10</a:t>
            </a:r>
          </a:p>
          <a:p>
            <a:pPr marL="285750" indent="-285750">
              <a:buFont typeface="Arial" panose="020B0604020202020204" pitchFamily="34" charset="0"/>
              <a:buChar char="•"/>
            </a:pPr>
            <a:r>
              <a:rPr lang="en-US" altLang="ja-JP" sz="1400" kern="0" dirty="0">
                <a:solidFill>
                  <a:srgbClr val="000000"/>
                </a:solidFill>
                <a:latin typeface="+mj-lt"/>
              </a:rPr>
              <a:t>PHP, </a:t>
            </a:r>
            <a:r>
              <a:rPr lang="en-US" altLang="ja-JP" sz="1400" kern="0" dirty="0" err="1">
                <a:solidFill>
                  <a:srgbClr val="000000"/>
                </a:solidFill>
                <a:latin typeface="+mj-lt"/>
              </a:rPr>
              <a:t>Javascript</a:t>
            </a:r>
            <a:r>
              <a:rPr lang="en-US" altLang="ja-JP" sz="1400" kern="0" dirty="0">
                <a:solidFill>
                  <a:srgbClr val="000000"/>
                </a:solidFill>
                <a:latin typeface="+mj-lt"/>
              </a:rPr>
              <a:t>, HTML, CSS, MySQL, JSON, XML, Twig​</a:t>
            </a:r>
          </a:p>
          <a:p>
            <a:pPr marL="285750" indent="-285750">
              <a:buFont typeface="Arial" panose="020B0604020202020204" pitchFamily="34" charset="0"/>
              <a:buChar char="•"/>
            </a:pPr>
            <a:r>
              <a:rPr lang="en-US" altLang="ja-JP" sz="1400" kern="0" dirty="0" err="1">
                <a:solidFill>
                  <a:srgbClr val="000000"/>
                </a:solidFill>
                <a:latin typeface="+mj-lt"/>
              </a:rPr>
              <a:t>Apache,Nginx,Linux,Windows</a:t>
            </a:r>
            <a:r>
              <a:rPr lang="en-US" altLang="ja-JP" sz="1400" kern="0" dirty="0">
                <a:solidFill>
                  <a:srgbClr val="000000"/>
                </a:solidFill>
                <a:latin typeface="+mj-lt"/>
              </a:rPr>
              <a:t>, Mac​</a:t>
            </a:r>
          </a:p>
          <a:p>
            <a:pPr marL="285750" indent="-285750">
              <a:buFont typeface="Arial" panose="020B0604020202020204" pitchFamily="34" charset="0"/>
              <a:buChar char="•"/>
            </a:pPr>
            <a:r>
              <a:rPr lang="en-US" altLang="ja-JP" sz="1400" kern="0" dirty="0">
                <a:solidFill>
                  <a:srgbClr val="000000"/>
                </a:solidFill>
                <a:latin typeface="+mj-lt"/>
              </a:rPr>
              <a:t>GIT, AWS, Azure Could Platform, Acquia Cloud, GitLab CI/CD​</a:t>
            </a:r>
          </a:p>
          <a:p>
            <a:pPr marL="285750" indent="-285750">
              <a:buFont typeface="Arial" panose="020B0604020202020204" pitchFamily="34" charset="0"/>
              <a:buChar char="•"/>
            </a:pPr>
            <a:r>
              <a:rPr lang="en-US" altLang="ja-JP" sz="1400" kern="0" dirty="0" err="1">
                <a:solidFill>
                  <a:srgbClr val="000000"/>
                </a:solidFill>
                <a:latin typeface="+mj-lt"/>
              </a:rPr>
              <a:t>Drush</a:t>
            </a:r>
            <a:r>
              <a:rPr lang="en-US" altLang="ja-JP" sz="1400" kern="0" dirty="0">
                <a:solidFill>
                  <a:srgbClr val="000000"/>
                </a:solidFill>
                <a:latin typeface="+mj-lt"/>
              </a:rPr>
              <a:t>, Composer, Symfony , YAML, Rest APIs.​</a:t>
            </a:r>
          </a:p>
          <a:p>
            <a:pPr marL="285750" indent="-285750">
              <a:buFont typeface="Arial" panose="020B0604020202020204" pitchFamily="34" charset="0"/>
              <a:buChar char="•"/>
            </a:pPr>
            <a:r>
              <a:rPr lang="en-US" altLang="ja-JP" sz="1400" kern="0" dirty="0">
                <a:solidFill>
                  <a:srgbClr val="000000"/>
                </a:solidFill>
                <a:latin typeface="+mj-lt"/>
              </a:rPr>
              <a:t>Bitbucket, Jenkins, Apache </a:t>
            </a:r>
            <a:r>
              <a:rPr lang="en-US" altLang="ja-JP" sz="1400" kern="0" dirty="0" err="1">
                <a:solidFill>
                  <a:srgbClr val="000000"/>
                </a:solidFill>
                <a:latin typeface="+mj-lt"/>
              </a:rPr>
              <a:t>Solr</a:t>
            </a:r>
            <a:r>
              <a:rPr lang="en-US" altLang="ja-JP" sz="1400" kern="0" dirty="0">
                <a:solidFill>
                  <a:srgbClr val="000000"/>
                </a:solidFill>
                <a:latin typeface="+mj-lt"/>
              </a:rPr>
              <a:t>, Postman, JIRA</a:t>
            </a:r>
          </a:p>
        </p:txBody>
      </p:sp>
      <p:sp>
        <p:nvSpPr>
          <p:cNvPr id="10" name="Rectangle 12">
            <a:extLst>
              <a:ext uri="{FF2B5EF4-FFF2-40B4-BE49-F238E27FC236}">
                <a16:creationId xmlns:a16="http://schemas.microsoft.com/office/drawing/2014/main" id="{A170C053-7822-4A0B-850E-03B89E375A94}"/>
              </a:ext>
            </a:extLst>
          </p:cNvPr>
          <p:cNvSpPr>
            <a:spLocks noChangeArrowheads="1"/>
          </p:cNvSpPr>
          <p:nvPr/>
        </p:nvSpPr>
        <p:spPr bwMode="auto">
          <a:xfrm>
            <a:off x="4579797" y="969025"/>
            <a:ext cx="7404824" cy="6053270"/>
          </a:xfrm>
          <a:prstGeom prst="rect">
            <a:avLst/>
          </a:prstGeom>
          <a:solidFill>
            <a:srgbClr val="FFFFFF"/>
          </a:solidFill>
          <a:ln>
            <a:noFill/>
          </a:ln>
          <a:effectLst/>
          <a:extLs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581" tIns="36581" rIns="36581" bIns="36581"/>
          <a:lstStyle/>
          <a:p>
            <a:pPr algn="just">
              <a:spcBef>
                <a:spcPct val="5000"/>
              </a:spcBef>
              <a:spcAft>
                <a:spcPct val="5000"/>
              </a:spcAft>
              <a:defRPr/>
            </a:pPr>
            <a:endParaRPr lang="en-US" sz="1400" u="sng" dirty="0">
              <a:solidFill>
                <a:srgbClr val="0070C0"/>
              </a:solidFill>
              <a:cs typeface="Times New Roman" pitchFamily="18" charset="0"/>
            </a:endParaRPr>
          </a:p>
          <a:p>
            <a:pPr lvl="0">
              <a:defRPr/>
            </a:pPr>
            <a:r>
              <a:rPr lang="en-US" sz="1600" b="1" dirty="0">
                <a:solidFill>
                  <a:srgbClr val="0070C0"/>
                </a:solidFill>
                <a:cs typeface="Times New Roman" pitchFamily="18" charset="0"/>
              </a:rPr>
              <a:t>Project :  Apollo 247 </a:t>
            </a:r>
          </a:p>
          <a:p>
            <a:pPr lvl="0">
              <a:defRPr/>
            </a:pPr>
            <a:endParaRPr lang="en-US" sz="1400" b="1" dirty="0">
              <a:solidFill>
                <a:srgbClr val="0070C0"/>
              </a:solidFill>
              <a:latin typeface="+mj-lt"/>
              <a:cs typeface="Times New Roman" pitchFamily="18" charset="0"/>
            </a:endParaRPr>
          </a:p>
          <a:p>
            <a:pPr lvl="0">
              <a:defRPr/>
            </a:pPr>
            <a:r>
              <a:rPr lang="en-US" sz="1400" b="1" dirty="0">
                <a:solidFill>
                  <a:srgbClr val="0070C0"/>
                </a:solidFill>
                <a:latin typeface="+mj-lt"/>
                <a:cs typeface="Times New Roman" pitchFamily="18" charset="0"/>
              </a:rPr>
              <a:t>  </a:t>
            </a:r>
            <a:r>
              <a:rPr lang="en-US" sz="1400" dirty="0">
                <a:solidFill>
                  <a:schemeClr val="tx1">
                    <a:lumMod val="75000"/>
                  </a:schemeClr>
                </a:solidFill>
                <a:latin typeface="+mj-lt"/>
                <a:cs typeface="Arial" panose="020B0604020202020204" pitchFamily="34" charset="0"/>
              </a:rPr>
              <a:t>CMS/Environment : Drupal 8, PHP, Apache, MySQL, HTML, CSS, jQuery.</a:t>
            </a:r>
          </a:p>
          <a:p>
            <a:pPr marL="171450" lvl="0" indent="-171450" algn="just">
              <a:buFont typeface="Arial" panose="020B0604020202020204" pitchFamily="34" charset="0"/>
              <a:buChar char="•"/>
            </a:pPr>
            <a:r>
              <a:rPr lang="en-US" sz="1400" dirty="0">
                <a:solidFill>
                  <a:schemeClr val="tx1">
                    <a:lumMod val="75000"/>
                  </a:schemeClr>
                </a:solidFill>
                <a:latin typeface="+mj-lt"/>
                <a:cs typeface="Arial" panose="020B0604020202020204" pitchFamily="34" charset="0"/>
              </a:rPr>
              <a:t>Client : Apollo247</a:t>
            </a:r>
          </a:p>
          <a:p>
            <a:pPr marL="171450" lvl="0" indent="-171450" algn="just">
              <a:buFont typeface="Arial" panose="020B0604020202020204" pitchFamily="34" charset="0"/>
              <a:buChar char="•"/>
            </a:pPr>
            <a:r>
              <a:rPr lang="en-US" sz="1400" dirty="0">
                <a:solidFill>
                  <a:schemeClr val="tx1">
                    <a:lumMod val="75000"/>
                  </a:schemeClr>
                </a:solidFill>
                <a:latin typeface="+mj-lt"/>
                <a:cs typeface="Arial" panose="020B0604020202020204" pitchFamily="34" charset="0"/>
              </a:rPr>
              <a:t>Developed many functionalities as per the business requirements to provide the workflow between Drupal and salesforce and exported the data as spreadsheet also.</a:t>
            </a:r>
          </a:p>
          <a:p>
            <a:pPr marL="171450" lvl="0" indent="-171450" algn="just">
              <a:buFont typeface="Arial" panose="020B0604020202020204" pitchFamily="34" charset="0"/>
              <a:buChar char="•"/>
            </a:pPr>
            <a:r>
              <a:rPr lang="en-US" sz="1400" dirty="0">
                <a:latin typeface="+mj-lt"/>
              </a:rPr>
              <a:t>Developed REST API to interact with third party servers. </a:t>
            </a:r>
          </a:p>
          <a:p>
            <a:pPr marL="171450" lvl="0" indent="-171450" algn="just">
              <a:buFont typeface="Arial" panose="020B0604020202020204" pitchFamily="34" charset="0"/>
              <a:buChar char="•"/>
            </a:pPr>
            <a:r>
              <a:rPr lang="en-US" sz="1400" dirty="0">
                <a:latin typeface="+mj-lt"/>
              </a:rPr>
              <a:t>Created crone jobs to generate and send monthly reports.  </a:t>
            </a:r>
          </a:p>
          <a:p>
            <a:pPr marL="171450" lvl="0" indent="-171450" algn="just">
              <a:buFont typeface="Arial" panose="020B0604020202020204" pitchFamily="34" charset="0"/>
              <a:buChar char="•"/>
            </a:pPr>
            <a:r>
              <a:rPr lang="en-US" sz="1400" dirty="0">
                <a:latin typeface="+mj-lt"/>
              </a:rPr>
              <a:t>Created workflow admin for various level of operations team members.</a:t>
            </a:r>
          </a:p>
          <a:p>
            <a:pPr marL="171450" lvl="0" indent="-171450" algn="just">
              <a:buFont typeface="Arial" panose="020B0604020202020204" pitchFamily="34" charset="0"/>
              <a:buChar char="•"/>
            </a:pPr>
            <a:endParaRPr lang="en-US" sz="1600" dirty="0">
              <a:solidFill>
                <a:schemeClr val="tx1">
                  <a:lumMod val="75000"/>
                </a:schemeClr>
              </a:solidFill>
              <a:cs typeface="Arial" panose="020B0604020202020204" pitchFamily="34" charset="0"/>
            </a:endParaRPr>
          </a:p>
          <a:p>
            <a:pPr lvl="0"/>
            <a:endParaRPr lang="en-US" sz="1600" b="1" dirty="0">
              <a:solidFill>
                <a:schemeClr val="tx1">
                  <a:lumMod val="75000"/>
                </a:schemeClr>
              </a:solidFill>
              <a:cs typeface="Arial" panose="020B0604020202020204" pitchFamily="34" charset="0"/>
            </a:endParaRPr>
          </a:p>
          <a:p>
            <a:pPr lvl="0" algn="just"/>
            <a:r>
              <a:rPr lang="en-US" sz="1600" b="1" dirty="0">
                <a:solidFill>
                  <a:srgbClr val="0070C0"/>
                </a:solidFill>
                <a:cs typeface="Times New Roman" pitchFamily="18" charset="0"/>
              </a:rPr>
              <a:t>Project : Augusta (Golf Team)</a:t>
            </a:r>
          </a:p>
          <a:p>
            <a:pPr marL="171450" lvl="0" indent="-171450" algn="just">
              <a:buFont typeface="Arial" panose="020B0604020202020204" pitchFamily="34" charset="0"/>
              <a:buChar char="•"/>
            </a:pPr>
            <a:r>
              <a:rPr lang="en-US" sz="1400" dirty="0">
                <a:solidFill>
                  <a:schemeClr val="tx1">
                    <a:lumMod val="75000"/>
                  </a:schemeClr>
                </a:solidFill>
                <a:latin typeface="+mj-lt"/>
                <a:cs typeface="Arial" panose="020B0604020202020204" pitchFamily="34" charset="0"/>
              </a:rPr>
              <a:t>CMS/Environment  : Drupal 8, PHP, Apache, MySQL, HTML, CSS, jQuery,</a:t>
            </a:r>
          </a:p>
          <a:p>
            <a:pPr marL="171450" lvl="0" indent="-171450" algn="just">
              <a:buFont typeface="Arial" panose="020B0604020202020204" pitchFamily="34" charset="0"/>
              <a:buChar char="•"/>
            </a:pPr>
            <a:r>
              <a:rPr lang="en-US" sz="1400" dirty="0">
                <a:solidFill>
                  <a:schemeClr val="tx1">
                    <a:lumMod val="75000"/>
                  </a:schemeClr>
                </a:solidFill>
                <a:latin typeface="+mj-lt"/>
                <a:cs typeface="Arial" panose="020B0604020202020204" pitchFamily="34" charset="0"/>
              </a:rPr>
              <a:t>Client :Augusta</a:t>
            </a:r>
          </a:p>
          <a:p>
            <a:pPr marL="171450" indent="-171450" algn="just">
              <a:buFont typeface="Arial" panose="020B0604020202020204" pitchFamily="34" charset="0"/>
              <a:buChar char="•"/>
            </a:pPr>
            <a:r>
              <a:rPr lang="en-US" sz="1400" dirty="0">
                <a:latin typeface="+mj-lt"/>
                <a:cs typeface="Arial" panose="020B0604020202020204" pitchFamily="34" charset="0"/>
              </a:rPr>
              <a:t>Independently worked on various data APIs to fetch the records and process it in form of custom templates, Drupal view pages and blocks as per business requirements.</a:t>
            </a:r>
          </a:p>
          <a:p>
            <a:pPr marL="171450" indent="-171450" algn="just">
              <a:buFont typeface="Arial" panose="020B0604020202020204" pitchFamily="34" charset="0"/>
              <a:buChar char="•"/>
            </a:pPr>
            <a:r>
              <a:rPr lang="en-US" sz="1400" dirty="0">
                <a:latin typeface="+mj-lt"/>
              </a:rPr>
              <a:t>Implemented various views and hook alters to change the core functionalities and cosmetic updates.</a:t>
            </a:r>
            <a:endParaRPr lang="en-US" sz="1400" dirty="0">
              <a:latin typeface="+mj-lt"/>
              <a:cs typeface="Arial" panose="020B0604020202020204" pitchFamily="34" charset="0"/>
            </a:endParaRPr>
          </a:p>
          <a:p>
            <a:pPr marL="171450" indent="-171450" algn="just">
              <a:buFont typeface="Arial" panose="020B0604020202020204" pitchFamily="34" charset="0"/>
              <a:buChar char="•"/>
            </a:pPr>
            <a:endParaRPr lang="en-US" sz="1200" dirty="0">
              <a:cs typeface="Arial" panose="020B0604020202020204" pitchFamily="34" charset="0"/>
            </a:endParaRPr>
          </a:p>
          <a:p>
            <a:pPr lvl="0">
              <a:defRPr/>
            </a:pPr>
            <a:r>
              <a:rPr lang="en-US" sz="1600" b="1" dirty="0">
                <a:solidFill>
                  <a:srgbClr val="0070C0"/>
                </a:solidFill>
                <a:cs typeface="Times New Roman" pitchFamily="18" charset="0"/>
              </a:rPr>
              <a:t>Project : Ticketmaster</a:t>
            </a:r>
          </a:p>
          <a:p>
            <a:pPr marL="171450" lvl="0" indent="-171450" algn="just">
              <a:buFont typeface="Arial" panose="020B0604020202020204" pitchFamily="34" charset="0"/>
              <a:buChar char="•"/>
            </a:pPr>
            <a:r>
              <a:rPr lang="en-US" sz="1400" dirty="0">
                <a:solidFill>
                  <a:schemeClr val="tx1">
                    <a:lumMod val="75000"/>
                  </a:schemeClr>
                </a:solidFill>
                <a:latin typeface="+mj-lt"/>
                <a:cs typeface="Arial" panose="020B0604020202020204" pitchFamily="34" charset="0"/>
              </a:rPr>
              <a:t>CMS/Environment : Drupal 8, PHP, Apache, MySQL, HTML, CSS, jQuery, JavaScript.</a:t>
            </a:r>
          </a:p>
          <a:p>
            <a:pPr marL="171450" lvl="0" indent="-171450" algn="just">
              <a:buFont typeface="Arial" panose="020B0604020202020204" pitchFamily="34" charset="0"/>
              <a:buChar char="•"/>
            </a:pPr>
            <a:r>
              <a:rPr lang="en-US" sz="1400" dirty="0">
                <a:solidFill>
                  <a:schemeClr val="tx1">
                    <a:lumMod val="75000"/>
                  </a:schemeClr>
                </a:solidFill>
                <a:latin typeface="+mj-lt"/>
                <a:cs typeface="Arial" panose="020B0604020202020204" pitchFamily="34" charset="0"/>
              </a:rPr>
              <a:t>Client :Ticketmaster ( U</a:t>
            </a:r>
            <a:r>
              <a:rPr lang="en-US" sz="1400" dirty="0">
                <a:latin typeface="+mj-lt"/>
              </a:rPr>
              <a:t>SA &amp; Australia based Sports , Music and Theatre events)</a:t>
            </a:r>
            <a:endParaRPr lang="en-US" sz="1400" dirty="0">
              <a:solidFill>
                <a:schemeClr val="tx1">
                  <a:lumMod val="75000"/>
                </a:schemeClr>
              </a:solidFill>
              <a:latin typeface="+mj-lt"/>
              <a:cs typeface="Arial" panose="020B0604020202020204" pitchFamily="34" charset="0"/>
            </a:endParaRPr>
          </a:p>
          <a:p>
            <a:pPr marL="171450" lvl="0" indent="-171450" algn="just">
              <a:buFont typeface="Arial" panose="020B0604020202020204" pitchFamily="34" charset="0"/>
              <a:buChar char="•"/>
            </a:pPr>
            <a:r>
              <a:rPr lang="en-US" sz="1400" dirty="0">
                <a:solidFill>
                  <a:schemeClr val="tx1">
                    <a:lumMod val="75000"/>
                  </a:schemeClr>
                </a:solidFill>
                <a:latin typeface="+mj-lt"/>
                <a:cs typeface="Arial" panose="020B0604020202020204" pitchFamily="34" charset="0"/>
              </a:rPr>
              <a:t>Developed many functionalities as per business requirements. Worked on custom modules, override the core functionalities and worked on some email functionalities</a:t>
            </a:r>
            <a:endParaRPr lang="en-US" sz="1400" dirty="0">
              <a:latin typeface="+mj-lt"/>
            </a:endParaRPr>
          </a:p>
        </p:txBody>
      </p:sp>
      <p:grpSp>
        <p:nvGrpSpPr>
          <p:cNvPr id="11" name="Group 29">
            <a:extLst>
              <a:ext uri="{FF2B5EF4-FFF2-40B4-BE49-F238E27FC236}">
                <a16:creationId xmlns:a16="http://schemas.microsoft.com/office/drawing/2014/main" id="{4D72CCD3-3B78-448F-9836-B74FE636618C}"/>
              </a:ext>
            </a:extLst>
          </p:cNvPr>
          <p:cNvGrpSpPr>
            <a:grpSpLocks/>
          </p:cNvGrpSpPr>
          <p:nvPr/>
        </p:nvGrpSpPr>
        <p:grpSpPr bwMode="auto">
          <a:xfrm>
            <a:off x="241825" y="391431"/>
            <a:ext cx="11654691" cy="1293309"/>
            <a:chOff x="145" y="621"/>
            <a:chExt cx="5910" cy="721"/>
          </a:xfrm>
        </p:grpSpPr>
        <p:sp>
          <p:nvSpPr>
            <p:cNvPr id="12" name="Rectangle 4">
              <a:extLst>
                <a:ext uri="{FF2B5EF4-FFF2-40B4-BE49-F238E27FC236}">
                  <a16:creationId xmlns:a16="http://schemas.microsoft.com/office/drawing/2014/main" id="{A2A0CD37-9405-459A-9121-C63965B1C6B2}"/>
                </a:ext>
              </a:extLst>
            </p:cNvPr>
            <p:cNvSpPr>
              <a:spLocks noChangeArrowheads="1"/>
            </p:cNvSpPr>
            <p:nvPr/>
          </p:nvSpPr>
          <p:spPr bwMode="auto">
            <a:xfrm>
              <a:off x="2317" y="704"/>
              <a:ext cx="3738" cy="239"/>
            </a:xfrm>
            <a:prstGeom prst="rect">
              <a:avLst/>
            </a:prstGeom>
            <a:solidFill>
              <a:srgbClr val="003399"/>
            </a:solidFill>
            <a:ln w="317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8000" rIns="0" bIns="48000"/>
            <a:lstStyle/>
            <a:p>
              <a:pPr marL="198408" indent="-198408" algn="ctr" eaLnBrk="0" hangingPunct="0"/>
              <a:r>
                <a:rPr lang="en-US" sz="2000" b="1" dirty="0">
                  <a:solidFill>
                    <a:srgbClr val="FFFFFF"/>
                  </a:solidFill>
                </a:rPr>
                <a:t>Projects</a:t>
              </a:r>
            </a:p>
          </p:txBody>
        </p:sp>
        <p:sp>
          <p:nvSpPr>
            <p:cNvPr id="13" name="Rectangle 8">
              <a:extLst>
                <a:ext uri="{FF2B5EF4-FFF2-40B4-BE49-F238E27FC236}">
                  <a16:creationId xmlns:a16="http://schemas.microsoft.com/office/drawing/2014/main" id="{B67039C5-4C23-4A98-8071-10DFC793FC09}"/>
                </a:ext>
              </a:extLst>
            </p:cNvPr>
            <p:cNvSpPr>
              <a:spLocks noChangeArrowheads="1"/>
            </p:cNvSpPr>
            <p:nvPr/>
          </p:nvSpPr>
          <p:spPr bwMode="auto">
            <a:xfrm>
              <a:off x="145" y="693"/>
              <a:ext cx="2158" cy="649"/>
            </a:xfrm>
            <a:prstGeom prst="rect">
              <a:avLst/>
            </a:prstGeom>
            <a:solidFill>
              <a:srgbClr val="FFFFFF"/>
            </a:solidFill>
            <a:ln w="3175">
              <a:solidFill>
                <a:srgbClr val="C0C0C0"/>
              </a:solidFill>
              <a:miter lim="800000"/>
              <a:headEnd/>
              <a:tailEnd/>
            </a:ln>
            <a:effectLst/>
            <a:extLst>
              <a:ext uri="{AF507438-7753-43E0-B8FC-AC1667EBCBE1}">
                <a14:hiddenEffects xmlns:a14="http://schemas.microsoft.com/office/drawing/2010/main">
                  <a:effectLst>
                    <a:outerShdw dist="107763" dir="2700000" algn="ctr" rotWithShape="0">
                      <a:schemeClr val="tx1"/>
                    </a:outerShdw>
                  </a:effectLst>
                </a14:hiddenEffects>
              </a:ext>
            </a:extLst>
          </p:spPr>
          <p:txBody>
            <a:bodyPr wrap="none" anchor="ctr"/>
            <a:lstStyle/>
            <a:p>
              <a:pPr algn="ctr" eaLnBrk="0" hangingPunct="0"/>
              <a:endParaRPr lang="en-US" sz="1467" dirty="0"/>
            </a:p>
          </p:txBody>
        </p:sp>
        <p:sp>
          <p:nvSpPr>
            <p:cNvPr id="14" name="Rectangle 9">
              <a:extLst>
                <a:ext uri="{FF2B5EF4-FFF2-40B4-BE49-F238E27FC236}">
                  <a16:creationId xmlns:a16="http://schemas.microsoft.com/office/drawing/2014/main" id="{13D95DBF-D693-4184-8AE3-6244F307E9FC}"/>
                </a:ext>
              </a:extLst>
            </p:cNvPr>
            <p:cNvSpPr>
              <a:spLocks noChangeArrowheads="1"/>
            </p:cNvSpPr>
            <p:nvPr/>
          </p:nvSpPr>
          <p:spPr bwMode="auto">
            <a:xfrm>
              <a:off x="977" y="621"/>
              <a:ext cx="1222" cy="158"/>
            </a:xfrm>
            <a:prstGeom prst="rect">
              <a:avLst/>
            </a:prstGeom>
            <a:noFill/>
            <a:ln>
              <a:noFill/>
            </a:ln>
            <a:effectLst/>
            <a:extLst>
              <a:ext uri="{909E8E84-426E-40DD-AFC4-6F175D3DCCD1}">
                <a14:hiddenFill xmlns:a14="http://schemas.microsoft.com/office/drawing/2010/main">
                  <a:solidFill>
                    <a:srgbClr val="83C2E5"/>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7367" tIns="48683" rIns="97367" bIns="48683">
              <a:spAutoFit/>
            </a:bodyPr>
            <a:lstStyle/>
            <a:p>
              <a:pPr defTabSz="595224" eaLnBrk="0" hangingPunct="0"/>
              <a:endParaRPr lang="en-US" sz="1200" b="1" dirty="0">
                <a:solidFill>
                  <a:srgbClr val="000000"/>
                </a:solidFill>
              </a:endParaRPr>
            </a:p>
          </p:txBody>
        </p:sp>
        <p:sp>
          <p:nvSpPr>
            <p:cNvPr id="15" name="Rectangle 10">
              <a:extLst>
                <a:ext uri="{FF2B5EF4-FFF2-40B4-BE49-F238E27FC236}">
                  <a16:creationId xmlns:a16="http://schemas.microsoft.com/office/drawing/2014/main" id="{29469689-207E-48FA-BB45-95CF50C9A7C6}"/>
                </a:ext>
              </a:extLst>
            </p:cNvPr>
            <p:cNvSpPr>
              <a:spLocks noChangeArrowheads="1"/>
            </p:cNvSpPr>
            <p:nvPr/>
          </p:nvSpPr>
          <p:spPr bwMode="auto">
            <a:xfrm>
              <a:off x="178" y="1051"/>
              <a:ext cx="2147" cy="158"/>
            </a:xfrm>
            <a:prstGeom prst="rect">
              <a:avLst/>
            </a:prstGeom>
            <a:noFill/>
            <a:ln>
              <a:noFill/>
            </a:ln>
            <a:effectLst/>
            <a:extLst>
              <a:ext uri="{909E8E84-426E-40DD-AFC4-6F175D3DCCD1}">
                <a14:hiddenFill xmlns:a14="http://schemas.microsoft.com/office/drawing/2010/main">
                  <a:solidFill>
                    <a:srgbClr val="83C2E5"/>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7367" tIns="48683" rIns="97367" bIns="48683">
              <a:spAutoFit/>
            </a:bodyPr>
            <a:lstStyle/>
            <a:p>
              <a:pPr defTabSz="595224" eaLnBrk="0" hangingPunct="0"/>
              <a:endParaRPr lang="en-US" sz="1200" kern="0" dirty="0">
                <a:solidFill>
                  <a:srgbClr val="000000"/>
                </a:solidFill>
                <a:latin typeface="Calibri" pitchFamily="34" charset="0"/>
              </a:endParaRPr>
            </a:p>
          </p:txBody>
        </p:sp>
      </p:grpSp>
      <p:sp>
        <p:nvSpPr>
          <p:cNvPr id="17" name="Rectangle 9">
            <a:extLst>
              <a:ext uri="{FF2B5EF4-FFF2-40B4-BE49-F238E27FC236}">
                <a16:creationId xmlns:a16="http://schemas.microsoft.com/office/drawing/2014/main" id="{8DF7BC8D-C5C3-4AD1-AF34-5BFC5D7528F8}"/>
              </a:ext>
            </a:extLst>
          </p:cNvPr>
          <p:cNvSpPr>
            <a:spLocks noChangeArrowheads="1"/>
          </p:cNvSpPr>
          <p:nvPr/>
        </p:nvSpPr>
        <p:spPr bwMode="auto">
          <a:xfrm>
            <a:off x="295484" y="724335"/>
            <a:ext cx="4213466" cy="806203"/>
          </a:xfrm>
          <a:prstGeom prst="rect">
            <a:avLst/>
          </a:prstGeom>
          <a:noFill/>
          <a:ln>
            <a:noFill/>
          </a:ln>
          <a:effectLst/>
          <a:extLst>
            <a:ext uri="{909E8E84-426E-40DD-AFC4-6F175D3DCCD1}">
              <a14:hiddenFill xmlns:a14="http://schemas.microsoft.com/office/drawing/2010/main">
                <a:solidFill>
                  <a:srgbClr val="83C2E5"/>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7367" tIns="48683" rIns="97367" bIns="48683">
            <a:spAutoFit/>
          </a:bodyPr>
          <a:lstStyle/>
          <a:p>
            <a:pPr defTabSz="585788" eaLnBrk="0" hangingPunct="0"/>
            <a:r>
              <a:rPr lang="en-US" sz="1600" b="1" dirty="0">
                <a:solidFill>
                  <a:schemeClr val="tx1">
                    <a:lumMod val="50000"/>
                  </a:schemeClr>
                </a:solidFill>
                <a:latin typeface="Book Antiqua" pitchFamily="18" charset="0"/>
                <a:ea typeface="Calibri" pitchFamily="34" charset="0"/>
                <a:cs typeface="Calibri" pitchFamily="34" charset="0"/>
              </a:rPr>
              <a:t>Sana Kauser Neyazi</a:t>
            </a:r>
          </a:p>
          <a:p>
            <a:pPr defTabSz="585788" eaLnBrk="0" hangingPunct="0"/>
            <a:r>
              <a:rPr lang="en-US" sz="1600" b="1" dirty="0">
                <a:solidFill>
                  <a:schemeClr val="tx1">
                    <a:lumMod val="50000"/>
                  </a:schemeClr>
                </a:solidFill>
                <a:latin typeface="Book Antiqua" pitchFamily="18" charset="0"/>
                <a:ea typeface="Calibri" pitchFamily="34" charset="0"/>
                <a:cs typeface="Calibri" pitchFamily="34" charset="0"/>
              </a:rPr>
              <a:t>Senior Associate Consultant</a:t>
            </a:r>
          </a:p>
          <a:p>
            <a:pPr defTabSz="585788" eaLnBrk="0" hangingPunct="0"/>
            <a:r>
              <a:rPr lang="en-US" sz="1400" dirty="0">
                <a:solidFill>
                  <a:srgbClr val="000000"/>
                </a:solidFill>
                <a:latin typeface="Book Antiqua" pitchFamily="18" charset="0"/>
                <a:ea typeface="Calibri" pitchFamily="34" charset="0"/>
                <a:cs typeface="Calibri" pitchFamily="34" charset="0"/>
              </a:rPr>
              <a:t>sanakauser.neyazi@infosys.com</a:t>
            </a:r>
            <a:endParaRPr lang="en-US" sz="1600" dirty="0">
              <a:solidFill>
                <a:schemeClr val="tx1">
                  <a:lumMod val="50000"/>
                </a:schemeClr>
              </a:solidFill>
              <a:latin typeface="Book Antiqua" pitchFamily="18" charset="0"/>
              <a:ea typeface="Calibri" pitchFamily="34" charset="0"/>
              <a:cs typeface="Calibri" pitchFamily="34" charset="0"/>
            </a:endParaRPr>
          </a:p>
        </p:txBody>
      </p:sp>
    </p:spTree>
    <p:extLst>
      <p:ext uri="{BB962C8B-B14F-4D97-AF65-F5344CB8AC3E}">
        <p14:creationId xmlns:p14="http://schemas.microsoft.com/office/powerpoint/2010/main" val="29686437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24BA4-3E04-30C6-0C24-1A89E7940709}"/>
              </a:ext>
            </a:extLst>
          </p:cNvPr>
          <p:cNvSpPr>
            <a:spLocks noGrp="1"/>
          </p:cNvSpPr>
          <p:nvPr>
            <p:ph type="title"/>
          </p:nvPr>
        </p:nvSpPr>
        <p:spPr>
          <a:xfrm>
            <a:off x="280633" y="487255"/>
            <a:ext cx="11630733" cy="5883489"/>
          </a:xfrm>
        </p:spPr>
        <p:txBody>
          <a:bodyPr/>
          <a:lstStyle/>
          <a:p>
            <a:pPr rtl="0" fontAlgn="base"/>
            <a:r>
              <a:rPr lang="en-US" sz="1600" b="1" dirty="0">
                <a:solidFill>
                  <a:srgbClr val="0070C0"/>
                </a:solidFill>
                <a:cs typeface="Times New Roman" pitchFamily="18" charset="0"/>
              </a:rPr>
              <a:t>Project : EPS</a:t>
            </a:r>
            <a:br>
              <a:rPr lang="en-US" sz="1400" b="1" dirty="0">
                <a:solidFill>
                  <a:srgbClr val="0070C0"/>
                </a:solidFill>
                <a:cs typeface="Times New Roman" pitchFamily="18" charset="0"/>
              </a:rPr>
            </a:br>
            <a:r>
              <a:rPr lang="en-US" sz="1400" dirty="0">
                <a:latin typeface="+mn-lt"/>
                <a:cs typeface="Times New Roman" pitchFamily="18" charset="0"/>
              </a:rPr>
              <a:t>CMS/Environment   :  Drupal 9, PHP, Linux, Apache, MySQL HTML, JS, jQuery, </a:t>
            </a:r>
            <a:r>
              <a:rPr lang="en-US" sz="1400" dirty="0" err="1">
                <a:latin typeface="+mn-lt"/>
                <a:cs typeface="Times New Roman" pitchFamily="18" charset="0"/>
              </a:rPr>
              <a:t>SOLR,Rest</a:t>
            </a:r>
            <a:r>
              <a:rPr lang="en-US" sz="1400" dirty="0">
                <a:latin typeface="+mn-lt"/>
                <a:cs typeface="Times New Roman" pitchFamily="18" charset="0"/>
              </a:rPr>
              <a:t> API, Cron​</a:t>
            </a:r>
            <a:br>
              <a:rPr lang="en-US" sz="1400" dirty="0">
                <a:latin typeface="+mn-lt"/>
                <a:cs typeface="Times New Roman" pitchFamily="18" charset="0"/>
              </a:rPr>
            </a:br>
            <a:r>
              <a:rPr lang="en-US" sz="1400" dirty="0">
                <a:latin typeface="+mn-lt"/>
                <a:cs typeface="Times New Roman" pitchFamily="18" charset="0"/>
              </a:rPr>
              <a:t>Client : </a:t>
            </a:r>
            <a:r>
              <a:rPr lang="en-US" sz="1400" dirty="0" err="1">
                <a:latin typeface="+mn-lt"/>
                <a:cs typeface="Times New Roman" pitchFamily="18" charset="0"/>
              </a:rPr>
              <a:t>Canadabuys</a:t>
            </a:r>
            <a:br>
              <a:rPr lang="en-US" sz="1400" dirty="0">
                <a:latin typeface="+mn-lt"/>
                <a:cs typeface="Times New Roman" pitchFamily="18" charset="0"/>
              </a:rPr>
            </a:br>
            <a:r>
              <a:rPr lang="en-US" sz="1400" dirty="0">
                <a:latin typeface="+mn-lt"/>
                <a:cs typeface="Times New Roman" pitchFamily="18" charset="0"/>
              </a:rPr>
              <a:t>Work period – 6 months</a:t>
            </a:r>
            <a:br>
              <a:rPr lang="en-US" sz="1400" dirty="0">
                <a:latin typeface="+mn-lt"/>
                <a:cs typeface="Times New Roman" pitchFamily="18" charset="0"/>
              </a:rPr>
            </a:br>
            <a:r>
              <a:rPr lang="en-US" sz="1400" dirty="0">
                <a:latin typeface="+mn-lt"/>
                <a:cs typeface="Times New Roman" pitchFamily="18" charset="0"/>
              </a:rPr>
              <a:t>Worked on template customization, </a:t>
            </a:r>
            <a:br>
              <a:rPr lang="en-US" sz="1400" dirty="0">
                <a:latin typeface="+mn-lt"/>
                <a:cs typeface="Times New Roman" pitchFamily="18" charset="0"/>
              </a:rPr>
            </a:br>
            <a:r>
              <a:rPr lang="en-US" sz="1400" dirty="0">
                <a:latin typeface="+mn-lt"/>
                <a:cs typeface="Times New Roman" pitchFamily="18" charset="0"/>
              </a:rPr>
              <a:t>Implemented various views and hook alters to change the core functionalities and cosmetic updates.</a:t>
            </a:r>
            <a:br>
              <a:rPr lang="en-US" sz="1400" dirty="0">
                <a:latin typeface="+mn-lt"/>
                <a:cs typeface="Times New Roman" pitchFamily="18" charset="0"/>
              </a:rPr>
            </a:br>
            <a:r>
              <a:rPr lang="en-US" sz="1400" dirty="0">
                <a:latin typeface="+mn-lt"/>
                <a:cs typeface="Times New Roman" pitchFamily="18" charset="0"/>
              </a:rPr>
              <a:t>Worked in challenging issues related node access rebuild, various SOLR indexing enhancements.​</a:t>
            </a:r>
            <a:br>
              <a:rPr lang="en-US" sz="1400" dirty="0">
                <a:latin typeface="+mn-lt"/>
                <a:cs typeface="Times New Roman" pitchFamily="18" charset="0"/>
              </a:rPr>
            </a:br>
            <a:r>
              <a:rPr lang="en-US" sz="1400" dirty="0">
                <a:latin typeface="+mn-lt"/>
                <a:cs typeface="Times New Roman" pitchFamily="18" charset="0"/>
              </a:rPr>
              <a:t>Enhanced the performance of existing mechanisms like field API updates, multiple webform submissions.​</a:t>
            </a:r>
            <a:br>
              <a:rPr lang="en-US" sz="1400" dirty="0">
                <a:latin typeface="+mn-lt"/>
                <a:cs typeface="Times New Roman" pitchFamily="18" charset="0"/>
              </a:rPr>
            </a:br>
            <a:br>
              <a:rPr lang="en-US" sz="1100" i="0" dirty="0">
                <a:effectLst/>
                <a:highlight>
                  <a:srgbClr val="F5F5F5"/>
                </a:highlight>
                <a:latin typeface="+mn-lt"/>
              </a:rPr>
            </a:br>
            <a:br>
              <a:rPr lang="en-US" sz="1400" dirty="0">
                <a:cs typeface="Arial" panose="020B0604020202020204" pitchFamily="34" charset="0"/>
              </a:rPr>
            </a:br>
            <a:br>
              <a:rPr lang="en-US" sz="1400" dirty="0">
                <a:cs typeface="Arial" panose="020B0604020202020204" pitchFamily="34" charset="0"/>
              </a:rPr>
            </a:br>
            <a:br>
              <a:rPr lang="en-US" sz="1400" dirty="0">
                <a:cs typeface="Arial" panose="020B0604020202020204" pitchFamily="34" charset="0"/>
              </a:rPr>
            </a:br>
            <a:r>
              <a:rPr lang="en-US" sz="1600" b="1" dirty="0">
                <a:solidFill>
                  <a:srgbClr val="0070C0"/>
                </a:solidFill>
                <a:cs typeface="Times New Roman" pitchFamily="18" charset="0"/>
              </a:rPr>
              <a:t>Project : Voya</a:t>
            </a:r>
            <a:br>
              <a:rPr lang="en-US" sz="1400" b="1" dirty="0">
                <a:solidFill>
                  <a:srgbClr val="0070C0"/>
                </a:solidFill>
                <a:cs typeface="Times New Roman" pitchFamily="18" charset="0"/>
              </a:rPr>
            </a:br>
            <a:r>
              <a:rPr lang="en-US" sz="1400" dirty="0">
                <a:solidFill>
                  <a:schemeClr val="tx1">
                    <a:lumMod val="75000"/>
                  </a:schemeClr>
                </a:solidFill>
                <a:latin typeface="+mj-lt"/>
                <a:cs typeface="Arial" panose="020B0604020202020204" pitchFamily="34" charset="0"/>
              </a:rPr>
              <a:t>CMS/Environment  : Drupal 9 ,10, </a:t>
            </a:r>
            <a:r>
              <a:rPr lang="en-US" sz="1400" dirty="0">
                <a:latin typeface="+mn-lt"/>
                <a:cs typeface="Times New Roman" pitchFamily="18" charset="0"/>
              </a:rPr>
              <a:t>, PHP, Linux, Apache, MySQL HTML, JS, jQuery, </a:t>
            </a:r>
            <a:r>
              <a:rPr lang="en-US" sz="1400" dirty="0" err="1">
                <a:latin typeface="+mn-lt"/>
                <a:cs typeface="Times New Roman" pitchFamily="18" charset="0"/>
              </a:rPr>
              <a:t>SOLR,Rest</a:t>
            </a:r>
            <a:r>
              <a:rPr lang="en-US" sz="1400" dirty="0">
                <a:latin typeface="+mn-lt"/>
                <a:cs typeface="Times New Roman" pitchFamily="18" charset="0"/>
              </a:rPr>
              <a:t> API, Cron​</a:t>
            </a:r>
            <a:r>
              <a:rPr lang="en-US" sz="1400" dirty="0">
                <a:solidFill>
                  <a:schemeClr val="tx1">
                    <a:lumMod val="75000"/>
                  </a:schemeClr>
                </a:solidFill>
                <a:latin typeface="+mj-lt"/>
                <a:cs typeface="Arial" panose="020B0604020202020204" pitchFamily="34" charset="0"/>
              </a:rPr>
              <a:t>,Pantheon, TDD, Unit Testing, </a:t>
            </a:r>
            <a:br>
              <a:rPr lang="en-US" sz="1400" dirty="0">
                <a:solidFill>
                  <a:schemeClr val="tx1">
                    <a:lumMod val="75000"/>
                  </a:schemeClr>
                </a:solidFill>
                <a:latin typeface="+mj-lt"/>
                <a:cs typeface="Arial" panose="020B0604020202020204" pitchFamily="34" charset="0"/>
              </a:rPr>
            </a:br>
            <a:r>
              <a:rPr lang="en-US" sz="1400" dirty="0" err="1">
                <a:solidFill>
                  <a:schemeClr val="tx1">
                    <a:lumMod val="75000"/>
                  </a:schemeClr>
                </a:solidFill>
                <a:latin typeface="+mj-lt"/>
                <a:cs typeface="Arial" panose="020B0604020202020204" pitchFamily="34" charset="0"/>
              </a:rPr>
              <a:t>Github</a:t>
            </a:r>
            <a:r>
              <a:rPr lang="en-US" sz="1400" dirty="0">
                <a:solidFill>
                  <a:schemeClr val="tx1">
                    <a:lumMod val="75000"/>
                  </a:schemeClr>
                </a:solidFill>
                <a:latin typeface="+mj-lt"/>
                <a:cs typeface="Arial" panose="020B0604020202020204" pitchFamily="34" charset="0"/>
              </a:rPr>
              <a:t>, VersionOne, </a:t>
            </a:r>
            <a:r>
              <a:rPr lang="en-US" sz="1400" dirty="0" err="1">
                <a:solidFill>
                  <a:schemeClr val="tx1">
                    <a:lumMod val="75000"/>
                  </a:schemeClr>
                </a:solidFill>
                <a:latin typeface="+mj-lt"/>
                <a:cs typeface="Arial" panose="020B0604020202020204" pitchFamily="34" charset="0"/>
              </a:rPr>
              <a:t>Xdebug</a:t>
            </a:r>
            <a:br>
              <a:rPr lang="en-US" sz="1400" dirty="0">
                <a:solidFill>
                  <a:schemeClr val="tx1">
                    <a:lumMod val="75000"/>
                  </a:schemeClr>
                </a:solidFill>
                <a:latin typeface="+mj-lt"/>
                <a:cs typeface="Arial" panose="020B0604020202020204" pitchFamily="34" charset="0"/>
              </a:rPr>
            </a:br>
            <a:r>
              <a:rPr lang="en-US" sz="1400" dirty="0">
                <a:solidFill>
                  <a:schemeClr val="tx1">
                    <a:lumMod val="75000"/>
                  </a:schemeClr>
                </a:solidFill>
                <a:latin typeface="+mj-lt"/>
                <a:cs typeface="Arial" panose="020B0604020202020204" pitchFamily="34" charset="0"/>
              </a:rPr>
              <a:t>Client : Voya Financial</a:t>
            </a:r>
            <a:br>
              <a:rPr lang="en-US" sz="1400" dirty="0">
                <a:solidFill>
                  <a:schemeClr val="tx1">
                    <a:lumMod val="75000"/>
                  </a:schemeClr>
                </a:solidFill>
                <a:latin typeface="+mj-lt"/>
                <a:cs typeface="Arial" panose="020B0604020202020204" pitchFamily="34" charset="0"/>
              </a:rPr>
            </a:br>
            <a:r>
              <a:rPr lang="en-US" sz="1400" dirty="0">
                <a:solidFill>
                  <a:schemeClr val="tx1">
                    <a:lumMod val="75000"/>
                  </a:schemeClr>
                </a:solidFill>
                <a:latin typeface="+mj-lt"/>
                <a:cs typeface="Arial" panose="020B0604020202020204" pitchFamily="34" charset="0"/>
              </a:rPr>
              <a:t>Cloud : Acquia Cloud Platform</a:t>
            </a:r>
            <a:br>
              <a:rPr lang="en-US" sz="1400" dirty="0">
                <a:solidFill>
                  <a:schemeClr val="tx1">
                    <a:lumMod val="75000"/>
                  </a:schemeClr>
                </a:solidFill>
                <a:latin typeface="+mj-lt"/>
                <a:cs typeface="Arial" panose="020B0604020202020204" pitchFamily="34" charset="0"/>
              </a:rPr>
            </a:br>
            <a:r>
              <a:rPr lang="en-US" sz="1400" dirty="0">
                <a:solidFill>
                  <a:schemeClr val="tx1">
                    <a:lumMod val="75000"/>
                  </a:schemeClr>
                </a:solidFill>
                <a:latin typeface="+mj-lt"/>
                <a:cs typeface="Arial" panose="020B0604020202020204" pitchFamily="34" charset="0"/>
              </a:rPr>
              <a:t>Worked on various core version upgrade which include major and minor </a:t>
            </a:r>
            <a:r>
              <a:rPr lang="en-US" sz="1400" dirty="0" err="1">
                <a:solidFill>
                  <a:schemeClr val="tx1">
                    <a:lumMod val="75000"/>
                  </a:schemeClr>
                </a:solidFill>
                <a:latin typeface="+mj-lt"/>
                <a:cs typeface="Arial" panose="020B0604020202020204" pitchFamily="34" charset="0"/>
              </a:rPr>
              <a:t>Contrib</a:t>
            </a:r>
            <a:r>
              <a:rPr lang="en-US" sz="1400" dirty="0">
                <a:solidFill>
                  <a:schemeClr val="tx1">
                    <a:lumMod val="75000"/>
                  </a:schemeClr>
                </a:solidFill>
                <a:latin typeface="+mj-lt"/>
                <a:cs typeface="Arial" panose="020B0604020202020204" pitchFamily="34" charset="0"/>
              </a:rPr>
              <a:t> module updates along with dependent libraries</a:t>
            </a:r>
            <a:br>
              <a:rPr lang="en-US" sz="1400" dirty="0">
                <a:solidFill>
                  <a:schemeClr val="tx1">
                    <a:lumMod val="75000"/>
                  </a:schemeClr>
                </a:solidFill>
                <a:latin typeface="+mj-lt"/>
                <a:cs typeface="Arial" panose="020B0604020202020204" pitchFamily="34" charset="0"/>
              </a:rPr>
            </a:br>
            <a:r>
              <a:rPr lang="en-US" sz="1400" dirty="0">
                <a:solidFill>
                  <a:schemeClr val="tx1">
                    <a:lumMod val="75000"/>
                  </a:schemeClr>
                </a:solidFill>
                <a:latin typeface="+mj-lt"/>
                <a:cs typeface="Arial" panose="020B0604020202020204" pitchFamily="34" charset="0"/>
              </a:rPr>
              <a:t>Worked on Drupal 9 to 10 major version update along with some custom fixes.</a:t>
            </a:r>
            <a:br>
              <a:rPr lang="en-US" sz="1400" dirty="0">
                <a:solidFill>
                  <a:schemeClr val="tx1">
                    <a:lumMod val="75000"/>
                  </a:schemeClr>
                </a:solidFill>
                <a:latin typeface="+mj-lt"/>
                <a:cs typeface="Arial" panose="020B0604020202020204" pitchFamily="34" charset="0"/>
              </a:rPr>
            </a:br>
            <a:r>
              <a:rPr lang="en-US" sz="1400" dirty="0">
                <a:solidFill>
                  <a:schemeClr val="tx1">
                    <a:lumMod val="75000"/>
                  </a:schemeClr>
                </a:solidFill>
                <a:latin typeface="+mj-lt"/>
                <a:cs typeface="Arial" panose="020B0604020202020204" pitchFamily="34" charset="0"/>
              </a:rPr>
              <a:t>Worked on third party API integration </a:t>
            </a:r>
            <a:br>
              <a:rPr lang="en-US" sz="1400" dirty="0">
                <a:solidFill>
                  <a:schemeClr val="tx1">
                    <a:lumMod val="75000"/>
                  </a:schemeClr>
                </a:solidFill>
                <a:latin typeface="+mj-lt"/>
                <a:cs typeface="Arial" panose="020B0604020202020204" pitchFamily="34" charset="0"/>
              </a:rPr>
            </a:br>
            <a:r>
              <a:rPr lang="en-US" sz="1400" dirty="0">
                <a:latin typeface="+mn-lt"/>
                <a:cs typeface="Times New Roman" pitchFamily="18" charset="0"/>
              </a:rPr>
              <a:t>Worked in challenging issues related feed, overriding core services, custom form submissions</a:t>
            </a:r>
            <a:br>
              <a:rPr lang="en-US" sz="1400" dirty="0">
                <a:solidFill>
                  <a:schemeClr val="tx1">
                    <a:lumMod val="75000"/>
                  </a:schemeClr>
                </a:solidFill>
                <a:latin typeface="+mj-lt"/>
                <a:cs typeface="Arial" panose="020B0604020202020204" pitchFamily="34" charset="0"/>
              </a:rPr>
            </a:br>
            <a:r>
              <a:rPr lang="en-US" sz="1400" dirty="0">
                <a:solidFill>
                  <a:schemeClr val="tx1">
                    <a:lumMod val="75000"/>
                  </a:schemeClr>
                </a:solidFill>
                <a:latin typeface="+mj-lt"/>
                <a:cs typeface="Arial" panose="020B0604020202020204" pitchFamily="34" charset="0"/>
              </a:rPr>
              <a:t>Identifying and analyzing client’s requirement by maintaining comprehensive conversation and provided optimum solutions.</a:t>
            </a:r>
            <a:br>
              <a:rPr lang="en-US" sz="1400" dirty="0">
                <a:solidFill>
                  <a:schemeClr val="tx1">
                    <a:lumMod val="75000"/>
                  </a:schemeClr>
                </a:solidFill>
                <a:latin typeface="+mj-lt"/>
                <a:cs typeface="Arial" panose="020B0604020202020204" pitchFamily="34" charset="0"/>
              </a:rPr>
            </a:br>
            <a:r>
              <a:rPr lang="en-US" sz="1400" dirty="0">
                <a:solidFill>
                  <a:schemeClr val="tx1">
                    <a:lumMod val="75000"/>
                  </a:schemeClr>
                </a:solidFill>
                <a:latin typeface="+mj-lt"/>
                <a:cs typeface="Arial" panose="020B0604020202020204" pitchFamily="34" charset="0"/>
              </a:rPr>
              <a:t>Worked on production support </a:t>
            </a:r>
            <a:br>
              <a:rPr lang="en-US" sz="1600" dirty="0">
                <a:cs typeface="Arial" panose="020B0604020202020204" pitchFamily="34" charset="0"/>
              </a:rPr>
            </a:br>
            <a:endParaRPr lang="en-US" sz="1600" dirty="0"/>
          </a:p>
        </p:txBody>
      </p:sp>
    </p:spTree>
    <p:extLst>
      <p:ext uri="{BB962C8B-B14F-4D97-AF65-F5344CB8AC3E}">
        <p14:creationId xmlns:p14="http://schemas.microsoft.com/office/powerpoint/2010/main" val="2303151528"/>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TotalTime>
  <Words>638</Words>
  <Application>Microsoft Office PowerPoint</Application>
  <PresentationFormat>Widescreen</PresentationFormat>
  <Paragraphs>45</Paragraphs>
  <Slides>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Book Antiqua</vt:lpstr>
      <vt:lpstr>Calibri</vt:lpstr>
      <vt:lpstr>Calibri Light</vt:lpstr>
      <vt:lpstr>Times New Roman</vt:lpstr>
      <vt:lpstr>Office Theme</vt:lpstr>
      <vt:lpstr>Sana Kauser Neyazi – Drupal Developer</vt:lpstr>
      <vt:lpstr>Project : EPS CMS/Environment   :  Drupal 9, PHP, Linux, Apache, MySQL HTML, JS, jQuery, SOLR,Rest API, Cron​ Client : Canadabuys Work period – 6 months Worked on template customization,  Implemented various views and hook alters to change the core functionalities and cosmetic updates. Worked in challenging issues related node access rebuild, various SOLR indexing enhancements.​ Enhanced the performance of existing mechanisms like field API updates, multiple webform submissions.​     Project : Voya CMS/Environment  : Drupal 9 ,10, , PHP, Linux, Apache, MySQL HTML, JS, jQuery, SOLR,Rest API, Cron​,Pantheon, TDD, Unit Testing,  Github, VersionOne, Xdebug Client : Voya Financial Cloud : Acquia Cloud Platform Worked on various core version upgrade which include major and minor Contrib module updates along with dependent libraries Worked on Drupal 9 to 10 major version update along with some custom fixes. Worked on third party API integration  Worked in challenging issues related feed, overriding core services, custom form submissions Identifying and analyzing client’s requirement by maintaining comprehensive conversation and provided optimum solutions. Worked on production support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Pavani Inja – Sitecore Developer</dc:title>
  <dc:creator>Deepthy Mukundan</dc:creator>
  <cp:lastModifiedBy>Sana Kauser Neyazi</cp:lastModifiedBy>
  <cp:revision>130</cp:revision>
  <dcterms:created xsi:type="dcterms:W3CDTF">2021-07-07T07:02:44Z</dcterms:created>
  <dcterms:modified xsi:type="dcterms:W3CDTF">2024-06-04T05:30:45Z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4b3411-284d-4d31-bd4f-bc13ef7f1fd6_Enabled">
    <vt:lpwstr>True</vt:lpwstr>
  </property>
  <property fmtid="{D5CDD505-2E9C-101B-9397-08002B2CF9AE}" pid="3" name="MSIP_Label_be4b3411-284d-4d31-bd4f-bc13ef7f1fd6_SiteId">
    <vt:lpwstr>63ce7d59-2f3e-42cd-a8cc-be764cff5eb6</vt:lpwstr>
  </property>
  <property fmtid="{D5CDD505-2E9C-101B-9397-08002B2CF9AE}" pid="4" name="MSIP_Label_be4b3411-284d-4d31-bd4f-bc13ef7f1fd6_Owner">
    <vt:lpwstr>Deepthy_Mukundan@ad.infosys.com</vt:lpwstr>
  </property>
  <property fmtid="{D5CDD505-2E9C-101B-9397-08002B2CF9AE}" pid="5" name="MSIP_Label_be4b3411-284d-4d31-bd4f-bc13ef7f1fd6_SetDate">
    <vt:lpwstr>2021-07-07T07:03:14.3339936Z</vt:lpwstr>
  </property>
  <property fmtid="{D5CDD505-2E9C-101B-9397-08002B2CF9AE}" pid="6" name="MSIP_Label_be4b3411-284d-4d31-bd4f-bc13ef7f1fd6_Name">
    <vt:lpwstr>Internal</vt:lpwstr>
  </property>
  <property fmtid="{D5CDD505-2E9C-101B-9397-08002B2CF9AE}" pid="7" name="MSIP_Label_be4b3411-284d-4d31-bd4f-bc13ef7f1fd6_Application">
    <vt:lpwstr>Microsoft Azure Information Protection</vt:lpwstr>
  </property>
  <property fmtid="{D5CDD505-2E9C-101B-9397-08002B2CF9AE}" pid="8" name="MSIP_Label_be4b3411-284d-4d31-bd4f-bc13ef7f1fd6_ActionId">
    <vt:lpwstr>564acef0-c8ad-4195-93c1-24284317e28c</vt:lpwstr>
  </property>
  <property fmtid="{D5CDD505-2E9C-101B-9397-08002B2CF9AE}" pid="9" name="MSIP_Label_be4b3411-284d-4d31-bd4f-bc13ef7f1fd6_Extended_MSFT_Method">
    <vt:lpwstr>Automatic</vt:lpwstr>
  </property>
  <property fmtid="{D5CDD505-2E9C-101B-9397-08002B2CF9AE}" pid="10" name="MSIP_Label_a0819fa7-4367-4500-ba88-dd630d977609_Enabled">
    <vt:lpwstr>true</vt:lpwstr>
  </property>
  <property fmtid="{D5CDD505-2E9C-101B-9397-08002B2CF9AE}" pid="11" name="MSIP_Label_a0819fa7-4367-4500-ba88-dd630d977609_SetDate">
    <vt:lpwstr>2021-10-13T06:43:30Z</vt:lpwstr>
  </property>
  <property fmtid="{D5CDD505-2E9C-101B-9397-08002B2CF9AE}" pid="12" name="MSIP_Label_a0819fa7-4367-4500-ba88-dd630d977609_Method">
    <vt:lpwstr>Standard</vt:lpwstr>
  </property>
  <property fmtid="{D5CDD505-2E9C-101B-9397-08002B2CF9AE}" pid="13" name="MSIP_Label_a0819fa7-4367-4500-ba88-dd630d977609_Name">
    <vt:lpwstr>a0819fa7-4367-4500-ba88-dd630d977609</vt:lpwstr>
  </property>
  <property fmtid="{D5CDD505-2E9C-101B-9397-08002B2CF9AE}" pid="14" name="MSIP_Label_a0819fa7-4367-4500-ba88-dd630d977609_SiteId">
    <vt:lpwstr>63ce7d59-2f3e-42cd-a8cc-be764cff5eb6</vt:lpwstr>
  </property>
  <property fmtid="{D5CDD505-2E9C-101B-9397-08002B2CF9AE}" pid="15" name="MSIP_Label_a0819fa7-4367-4500-ba88-dd630d977609_ActionId">
    <vt:lpwstr>564acef0-c8ad-4195-93c1-24284317e28c</vt:lpwstr>
  </property>
  <property fmtid="{D5CDD505-2E9C-101B-9397-08002B2CF9AE}" pid="16" name="MSIP_Label_a0819fa7-4367-4500-ba88-dd630d977609_ContentBits">
    <vt:lpwstr>0</vt:lpwstr>
  </property>
</Properties>
</file>